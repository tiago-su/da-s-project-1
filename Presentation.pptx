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60" r:id="rId4"/>
    <p:sldId id="259" r:id="rId5"/>
    <p:sldId id="278" r:id="rId6"/>
    <p:sldId id="277" r:id="rId7"/>
    <p:sldId id="261" r:id="rId8"/>
    <p:sldId id="262" r:id="rId9"/>
    <p:sldId id="263" r:id="rId10"/>
    <p:sldId id="264" r:id="rId11"/>
    <p:sldId id="279" r:id="rId12"/>
    <p:sldId id="280" r:id="rId13"/>
    <p:sldId id="265" r:id="rId14"/>
    <p:sldId id="266" r:id="rId15"/>
    <p:sldId id="267" r:id="rId16"/>
    <p:sldId id="268" r:id="rId17"/>
    <p:sldId id="269" r:id="rId18"/>
    <p:sldId id="281" r:id="rId19"/>
    <p:sldId id="282" r:id="rId20"/>
    <p:sldId id="270" r:id="rId21"/>
    <p:sldId id="271" r:id="rId22"/>
    <p:sldId id="273" r:id="rId23"/>
    <p:sldId id="272" r:id="rId24"/>
    <p:sldId id="274" r:id="rId25"/>
    <p:sldId id="275" r:id="rId26"/>
    <p:sldId id="276"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D4BEB"/>
    <a:srgbClr val="BB4EE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CE4585B-B9F1-393E-3D9D-A6EB62515CEC}" v="7" dt="2026-03-29T16:10:59.903"/>
    <p1510:client id="{A4CF2488-793A-4E7F-7915-688EB89A2EE2}" v="209" dt="2026-03-29T12:44:04.754"/>
    <p1510:client id="{C9036830-8FA7-D837-C5E9-9580186E49F7}" v="308" dt="2026-03-29T16:09:57.703"/>
    <p1510:client id="{F9633879-8774-89D0-53B8-F95A3F735EB4}" v="535" dt="2026-03-29T17:56:18.8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86" d="100"/>
          <a:sy n="86" d="100"/>
        </p:scale>
        <p:origin x="96" y="8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46CE7D5-CF57-46EF-B807-FDD0502418D4}" type="datetimeFigureOut">
              <a:rPr lang="en-US" smtClean="0"/>
              <a:t>3/29/2026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6CE7D5-CF57-46EF-B807-FDD0502418D4}" type="datetimeFigureOut">
              <a:rPr lang="en-US" smtClean="0"/>
              <a:t>3/29/2026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46CE7D5-CF57-46EF-B807-FDD0502418D4}" type="datetimeFigureOut">
              <a:rPr lang="en-US" smtClean="0"/>
              <a:t>3/29/2026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3/29/2026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3/29/2026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3/29/2026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US" smtClean="0"/>
              <a:t>3/29/2026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216429"/>
            <a:ext cx="9144000" cy="668867"/>
          </a:xfrm>
        </p:spPr>
        <p:txBody>
          <a:bodyPr>
            <a:normAutofit/>
          </a:bodyPr>
          <a:lstStyle/>
          <a:p>
            <a:r>
              <a:rPr lang="en-US" sz="4000">
                <a:ea typeface="+mj-lt"/>
                <a:cs typeface="+mj-lt"/>
              </a:rPr>
              <a:t>Scientific Conference Organization Tool</a:t>
            </a:r>
            <a:endParaRPr lang="en-US" sz="4000"/>
          </a:p>
        </p:txBody>
      </p:sp>
      <p:sp>
        <p:nvSpPr>
          <p:cNvPr id="3" name="Subtitle 2"/>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Description</a:t>
            </a:r>
          </a:p>
        </p:txBody>
      </p:sp>
      <p:sp>
        <p:nvSpPr>
          <p:cNvPr id="4" name="TextBox 3">
            <a:extLst>
              <a:ext uri="{FF2B5EF4-FFF2-40B4-BE49-F238E27FC236}">
                <a16:creationId xmlns:a16="http://schemas.microsoft.com/office/drawing/2014/main" id="{26108E1A-ACF2-CB45-C171-7F11DB0B1B0D}"/>
              </a:ext>
            </a:extLst>
          </p:cNvPr>
          <p:cNvSpPr txBox="1"/>
          <p:nvPr/>
        </p:nvSpPr>
        <p:spPr>
          <a:xfrm>
            <a:off x="726068" y="2055746"/>
            <a:ext cx="10745231" cy="258532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dirty="0">
                <a:ea typeface="+mn-lt"/>
                <a:cs typeface="+mn-lt"/>
              </a:rPr>
              <a:t>This project was made for the subject "</a:t>
            </a:r>
            <a:r>
              <a:rPr lang="en-US" b="1" dirty="0" err="1">
                <a:ea typeface="+mn-lt"/>
                <a:cs typeface="+mn-lt"/>
              </a:rPr>
              <a:t>Desenho</a:t>
            </a:r>
            <a:r>
              <a:rPr lang="en-US" b="1" dirty="0">
                <a:ea typeface="+mn-lt"/>
                <a:cs typeface="+mn-lt"/>
              </a:rPr>
              <a:t> de </a:t>
            </a:r>
            <a:r>
              <a:rPr lang="en-US" b="1" dirty="0" err="1">
                <a:ea typeface="+mn-lt"/>
                <a:cs typeface="+mn-lt"/>
              </a:rPr>
              <a:t>Algoritmos</a:t>
            </a:r>
            <a:r>
              <a:rPr lang="en-US" b="1" dirty="0">
                <a:ea typeface="+mn-lt"/>
                <a:cs typeface="+mn-lt"/>
              </a:rPr>
              <a:t>" and the objective of this program is the following:</a:t>
            </a:r>
            <a:br>
              <a:rPr lang="en-US" b="1" dirty="0">
                <a:ea typeface="+mn-lt"/>
                <a:cs typeface="+mn-lt"/>
              </a:rPr>
            </a:br>
            <a:r>
              <a:rPr lang="en-US" dirty="0">
                <a:ea typeface="+mn-lt"/>
                <a:cs typeface="+mn-lt"/>
              </a:rPr>
              <a:t> Given a set of articles with domains and a set of reviewers with expertise in certain domains, the goal is to find the best or one of the best distributions, knowing that reviewers can only review a maximum amount of articles and an article needs at least a minimum amount of reviewers. If not all articles can be assigned reviewers, the program prints the unassigned articles.</a:t>
            </a:r>
            <a:r>
              <a:rPr lang="en-US" b="1" dirty="0">
                <a:ea typeface="+mn-lt"/>
                <a:cs typeface="+mn-lt"/>
              </a:rPr>
              <a:t> </a:t>
            </a:r>
            <a:br>
              <a:rPr lang="en-US" b="1" dirty="0">
                <a:ea typeface="+mn-lt"/>
                <a:cs typeface="+mn-lt"/>
              </a:rPr>
            </a:br>
            <a:r>
              <a:rPr lang="en-US" dirty="0">
                <a:ea typeface="+mn-lt"/>
                <a:cs typeface="+mn-lt"/>
              </a:rPr>
              <a:t>  Besides the main algorithm, there is a feature to find critical reviewers, that is: the reviewers that, if failing to do their assignment, will cause a failure.</a:t>
            </a:r>
            <a:endParaRPr lang="en-US"/>
          </a:p>
          <a:p>
            <a:pPr algn="l"/>
            <a:endParaRPr lang="en-US" dirty="0"/>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7CAC9A-41A1-C8AD-0E27-E7820D4E10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919435-0A46-0A25-9983-5E4497B0B45C}"/>
              </a:ext>
            </a:extLst>
          </p:cNvPr>
          <p:cNvSpPr>
            <a:spLocks noGrp="1"/>
          </p:cNvSpPr>
          <p:nvPr>
            <p:ph type="ctrTitle"/>
          </p:nvPr>
        </p:nvSpPr>
        <p:spPr>
          <a:xfrm>
            <a:off x="1524000" y="216429"/>
            <a:ext cx="9144000" cy="668867"/>
          </a:xfrm>
        </p:spPr>
        <p:txBody>
          <a:bodyPr>
            <a:normAutofit/>
          </a:bodyPr>
          <a:lstStyle/>
          <a:p>
            <a:r>
              <a:rPr lang="en-US" sz="4000">
                <a:ea typeface="+mj-lt"/>
                <a:cs typeface="+mj-lt"/>
              </a:rPr>
              <a:t>Scientific Conference Organization Tool</a:t>
            </a:r>
            <a:endParaRPr lang="en-US" sz="4000"/>
          </a:p>
        </p:txBody>
      </p:sp>
      <p:sp>
        <p:nvSpPr>
          <p:cNvPr id="3" name="Subtitle 2">
            <a:extLst>
              <a:ext uri="{FF2B5EF4-FFF2-40B4-BE49-F238E27FC236}">
                <a16:creationId xmlns:a16="http://schemas.microsoft.com/office/drawing/2014/main" id="{3FEC80AB-1CEF-AF1C-9D50-C0E97A79DB25}"/>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to use</a:t>
            </a:r>
          </a:p>
        </p:txBody>
      </p:sp>
      <p:sp>
        <p:nvSpPr>
          <p:cNvPr id="4" name="TextBox 3">
            <a:extLst>
              <a:ext uri="{FF2B5EF4-FFF2-40B4-BE49-F238E27FC236}">
                <a16:creationId xmlns:a16="http://schemas.microsoft.com/office/drawing/2014/main" id="{5B107FA8-FE5C-F638-133E-C60BF6ED6087}"/>
              </a:ext>
            </a:extLst>
          </p:cNvPr>
          <p:cNvSpPr txBox="1"/>
          <p:nvPr/>
        </p:nvSpPr>
        <p:spPr>
          <a:xfrm>
            <a:off x="726068" y="2055746"/>
            <a:ext cx="1074523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mn-lt"/>
                <a:cs typeface="+mn-lt"/>
              </a:rPr>
              <a:t>1º Press 2 in the main menu to select the dataset</a:t>
            </a:r>
            <a:endParaRPr lang="en-US"/>
          </a:p>
          <a:p>
            <a:r>
              <a:rPr lang="en-US">
                <a:ea typeface="+mn-lt"/>
                <a:cs typeface="+mn-lt"/>
              </a:rPr>
              <a:t> 2º Write the relative path to the dataset</a:t>
            </a:r>
            <a:endParaRPr lang="en-US"/>
          </a:p>
          <a:p>
            <a:r>
              <a:rPr lang="en-US">
                <a:ea typeface="+mn-lt"/>
                <a:cs typeface="+mn-lt"/>
              </a:rPr>
              <a:t> 3º Press 3 to run</a:t>
            </a:r>
            <a:endParaRPr lang="en-US"/>
          </a:p>
          <a:p>
            <a:pPr algn="l"/>
            <a:endParaRPr lang="en-US" dirty="0"/>
          </a:p>
        </p:txBody>
      </p:sp>
      <p:pic>
        <p:nvPicPr>
          <p:cNvPr id="7" name="Picture 6" descr="A screenshot of a computer&#10;&#10;AI-generated content may be incorrect.">
            <a:extLst>
              <a:ext uri="{FF2B5EF4-FFF2-40B4-BE49-F238E27FC236}">
                <a16:creationId xmlns:a16="http://schemas.microsoft.com/office/drawing/2014/main" id="{A5D37EA3-BC87-76F5-45E2-9ED5EEAF9F6C}"/>
              </a:ext>
            </a:extLst>
          </p:cNvPr>
          <p:cNvPicPr>
            <a:picLocks noChangeAspect="1"/>
          </p:cNvPicPr>
          <p:nvPr/>
        </p:nvPicPr>
        <p:blipFill>
          <a:blip r:embed="rId2"/>
          <a:stretch>
            <a:fillRect/>
          </a:stretch>
        </p:blipFill>
        <p:spPr>
          <a:xfrm>
            <a:off x="4400550" y="4366516"/>
            <a:ext cx="3390900" cy="1990725"/>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755EBBCE-DBFD-1814-F61E-76DDD40792DE}"/>
              </a:ext>
            </a:extLst>
          </p:cNvPr>
          <p:cNvPicPr>
            <a:picLocks noChangeAspect="1"/>
          </p:cNvPicPr>
          <p:nvPr/>
        </p:nvPicPr>
        <p:blipFill>
          <a:blip r:embed="rId3"/>
          <a:stretch>
            <a:fillRect/>
          </a:stretch>
        </p:blipFill>
        <p:spPr>
          <a:xfrm>
            <a:off x="395404" y="4366516"/>
            <a:ext cx="3390900" cy="1990725"/>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4D6B949D-5208-F518-3633-9D4065FB1C51}"/>
              </a:ext>
            </a:extLst>
          </p:cNvPr>
          <p:cNvPicPr>
            <a:picLocks noChangeAspect="1"/>
          </p:cNvPicPr>
          <p:nvPr/>
        </p:nvPicPr>
        <p:blipFill>
          <a:blip r:embed="rId4"/>
          <a:stretch>
            <a:fillRect/>
          </a:stretch>
        </p:blipFill>
        <p:spPr>
          <a:xfrm>
            <a:off x="8405696" y="4366516"/>
            <a:ext cx="3390900" cy="1990725"/>
          </a:xfrm>
          <a:prstGeom prst="rect">
            <a:avLst/>
          </a:prstGeom>
        </p:spPr>
      </p:pic>
    </p:spTree>
    <p:extLst>
      <p:ext uri="{BB962C8B-B14F-4D97-AF65-F5344CB8AC3E}">
        <p14:creationId xmlns:p14="http://schemas.microsoft.com/office/powerpoint/2010/main" val="4091410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8FBF8B-150C-AED3-F9B3-B754574B91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821833-B8A6-B41D-0056-B34BDD56379E}"/>
              </a:ext>
            </a:extLst>
          </p:cNvPr>
          <p:cNvSpPr>
            <a:spLocks noGrp="1"/>
          </p:cNvSpPr>
          <p:nvPr>
            <p:ph type="ctrTitle"/>
          </p:nvPr>
        </p:nvSpPr>
        <p:spPr>
          <a:xfrm>
            <a:off x="1524000" y="216429"/>
            <a:ext cx="9144000" cy="668867"/>
          </a:xfrm>
        </p:spPr>
        <p:txBody>
          <a:bodyPr>
            <a:normAutofit/>
          </a:bodyPr>
          <a:lstStyle/>
          <a:p>
            <a:r>
              <a:rPr lang="en-US" sz="4000">
                <a:ea typeface="+mj-lt"/>
                <a:cs typeface="+mj-lt"/>
              </a:rPr>
              <a:t>Scientific Conference Organization Tool</a:t>
            </a:r>
            <a:endParaRPr lang="en-US" sz="4000"/>
          </a:p>
        </p:txBody>
      </p:sp>
      <p:sp>
        <p:nvSpPr>
          <p:cNvPr id="3" name="Subtitle 2">
            <a:extLst>
              <a:ext uri="{FF2B5EF4-FFF2-40B4-BE49-F238E27FC236}">
                <a16:creationId xmlns:a16="http://schemas.microsoft.com/office/drawing/2014/main" id="{01894D84-1F27-0990-F00A-60D669249439}"/>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Project structure</a:t>
            </a:r>
            <a:endParaRPr lang="en-US" sz="3000" dirty="0"/>
          </a:p>
        </p:txBody>
      </p:sp>
      <p:pic>
        <p:nvPicPr>
          <p:cNvPr id="6" name="Picture 5" descr="A diagram of a tool&#10;&#10;AI-generated content may be incorrect.">
            <a:extLst>
              <a:ext uri="{FF2B5EF4-FFF2-40B4-BE49-F238E27FC236}">
                <a16:creationId xmlns:a16="http://schemas.microsoft.com/office/drawing/2014/main" id="{F17E000B-A619-C772-E25D-48847DC430CE}"/>
              </a:ext>
            </a:extLst>
          </p:cNvPr>
          <p:cNvPicPr>
            <a:picLocks noChangeAspect="1"/>
          </p:cNvPicPr>
          <p:nvPr/>
        </p:nvPicPr>
        <p:blipFill>
          <a:blip r:embed="rId2"/>
          <a:stretch>
            <a:fillRect/>
          </a:stretch>
        </p:blipFill>
        <p:spPr>
          <a:xfrm>
            <a:off x="2413597" y="1619010"/>
            <a:ext cx="7374701" cy="4732688"/>
          </a:xfrm>
          <a:prstGeom prst="rect">
            <a:avLst/>
          </a:prstGeom>
        </p:spPr>
      </p:pic>
    </p:spTree>
    <p:extLst>
      <p:ext uri="{BB962C8B-B14F-4D97-AF65-F5344CB8AC3E}">
        <p14:creationId xmlns:p14="http://schemas.microsoft.com/office/powerpoint/2010/main" val="23300981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21AC9-54A5-97CC-C6A1-77EB52F60B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AA4727-055E-A9EA-5069-109E0B7987F3}"/>
              </a:ext>
            </a:extLst>
          </p:cNvPr>
          <p:cNvSpPr>
            <a:spLocks noGrp="1"/>
          </p:cNvSpPr>
          <p:nvPr>
            <p:ph type="ctrTitle"/>
          </p:nvPr>
        </p:nvSpPr>
        <p:spPr>
          <a:xfrm>
            <a:off x="1524000" y="216429"/>
            <a:ext cx="9144000" cy="668867"/>
          </a:xfrm>
        </p:spPr>
        <p:txBody>
          <a:bodyPr>
            <a:normAutofit/>
          </a:bodyPr>
          <a:lstStyle/>
          <a:p>
            <a:r>
              <a:rPr lang="en-US" sz="4000">
                <a:ea typeface="+mj-lt"/>
                <a:cs typeface="+mj-lt"/>
              </a:rPr>
              <a:t>Parser</a:t>
            </a:r>
            <a:endParaRPr lang="en-US" sz="4000"/>
          </a:p>
        </p:txBody>
      </p:sp>
      <p:sp>
        <p:nvSpPr>
          <p:cNvPr id="3" name="Subtitle 2">
            <a:extLst>
              <a:ext uri="{FF2B5EF4-FFF2-40B4-BE49-F238E27FC236}">
                <a16:creationId xmlns:a16="http://schemas.microsoft.com/office/drawing/2014/main" id="{E5D18349-0DA1-1D68-B023-7B9424827F29}"/>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32E5664F-0BAD-628F-5F85-46716FBF60B7}"/>
              </a:ext>
            </a:extLst>
          </p:cNvPr>
          <p:cNvSpPr txBox="1"/>
          <p:nvPr/>
        </p:nvSpPr>
        <p:spPr>
          <a:xfrm>
            <a:off x="726068" y="2055746"/>
            <a:ext cx="1074523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mn-lt"/>
                <a:cs typeface="+mn-lt"/>
              </a:rPr>
              <a:t>The Parser class is responsible for reading and extracting structured data from the input file. The input file is divided into clearly marked sections (#Submissions, #Reviewers, #Parameters, #Control), and the parser reads each section to populate the corresponding internal data structures to be later handled by algorithms.</a:t>
            </a:r>
            <a:endParaRPr lang="en-US"/>
          </a:p>
          <a:p>
            <a:pPr algn="l"/>
            <a:endParaRPr lang="en-US" dirty="0"/>
          </a:p>
        </p:txBody>
      </p:sp>
      <p:pic>
        <p:nvPicPr>
          <p:cNvPr id="5" name="Picture 4" descr="A screenshot of a computer program&#10;&#10;AI-generated content may be incorrect.">
            <a:extLst>
              <a:ext uri="{FF2B5EF4-FFF2-40B4-BE49-F238E27FC236}">
                <a16:creationId xmlns:a16="http://schemas.microsoft.com/office/drawing/2014/main" id="{1FA70B2F-EA8B-B910-9B51-9083BF80CA1E}"/>
              </a:ext>
            </a:extLst>
          </p:cNvPr>
          <p:cNvPicPr>
            <a:picLocks noChangeAspect="1"/>
          </p:cNvPicPr>
          <p:nvPr/>
        </p:nvPicPr>
        <p:blipFill>
          <a:blip r:embed="rId2"/>
          <a:stretch>
            <a:fillRect/>
          </a:stretch>
        </p:blipFill>
        <p:spPr>
          <a:xfrm>
            <a:off x="2909887" y="4158714"/>
            <a:ext cx="6372225" cy="1390650"/>
          </a:xfrm>
          <a:prstGeom prst="rect">
            <a:avLst/>
          </a:prstGeom>
        </p:spPr>
      </p:pic>
    </p:spTree>
    <p:extLst>
      <p:ext uri="{BB962C8B-B14F-4D97-AF65-F5344CB8AC3E}">
        <p14:creationId xmlns:p14="http://schemas.microsoft.com/office/powerpoint/2010/main" val="4019914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3068A-F792-570B-73FB-2B1940D3F7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EDCB86-70FB-83D2-FD25-31F7A28D63FF}"/>
              </a:ext>
            </a:extLst>
          </p:cNvPr>
          <p:cNvSpPr>
            <a:spLocks noGrp="1"/>
          </p:cNvSpPr>
          <p:nvPr>
            <p:ph type="ctrTitle"/>
          </p:nvPr>
        </p:nvSpPr>
        <p:spPr>
          <a:xfrm>
            <a:off x="1524000" y="216429"/>
            <a:ext cx="9144000" cy="668867"/>
          </a:xfrm>
        </p:spPr>
        <p:txBody>
          <a:bodyPr>
            <a:normAutofit/>
          </a:bodyPr>
          <a:lstStyle/>
          <a:p>
            <a:r>
              <a:rPr lang="en-US" sz="4000">
                <a:ea typeface="+mj-lt"/>
                <a:cs typeface="+mj-lt"/>
              </a:rPr>
              <a:t>Parser</a:t>
            </a:r>
            <a:endParaRPr lang="en-US" sz="4000"/>
          </a:p>
        </p:txBody>
      </p:sp>
      <p:sp>
        <p:nvSpPr>
          <p:cNvPr id="3" name="Subtitle 2">
            <a:extLst>
              <a:ext uri="{FF2B5EF4-FFF2-40B4-BE49-F238E27FC236}">
                <a16:creationId xmlns:a16="http://schemas.microsoft.com/office/drawing/2014/main" id="{412C076F-F677-C517-5367-AF8279786C21}"/>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6482DEB1-65C8-A043-FE4C-221E87739FCF}"/>
              </a:ext>
            </a:extLst>
          </p:cNvPr>
          <p:cNvSpPr txBox="1"/>
          <p:nvPr/>
        </p:nvSpPr>
        <p:spPr>
          <a:xfrm>
            <a:off x="726068" y="2055746"/>
            <a:ext cx="6164765" cy="34163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The parser uses line by line reading and tokenization (std::</a:t>
            </a:r>
            <a:r>
              <a:rPr lang="en-US" dirty="0" err="1">
                <a:ea typeface="+mn-lt"/>
                <a:cs typeface="+mn-lt"/>
              </a:rPr>
              <a:t>strtok</a:t>
            </a:r>
            <a:r>
              <a:rPr lang="en-US" dirty="0">
                <a:ea typeface="+mn-lt"/>
                <a:cs typeface="+mn-lt"/>
              </a:rPr>
              <a:t>) to convert CSV input into structured objects. Helper functions handle string to integer conversion, trimming whitespace and quotes, and validating input values.</a:t>
            </a:r>
          </a:p>
          <a:p>
            <a:r>
              <a:rPr lang="en-US" dirty="0">
                <a:ea typeface="+mn-lt"/>
                <a:cs typeface="+mn-lt"/>
              </a:rPr>
              <a:t>The main entry point, </a:t>
            </a:r>
            <a:r>
              <a:rPr lang="en-US" dirty="0" err="1">
                <a:ea typeface="+mn-lt"/>
                <a:cs typeface="+mn-lt"/>
              </a:rPr>
              <a:t>parse_file</a:t>
            </a:r>
            <a:r>
              <a:rPr lang="en-US" dirty="0">
                <a:ea typeface="+mn-lt"/>
                <a:cs typeface="+mn-lt"/>
              </a:rPr>
              <a:t>(), locates each section in the file and calls the appropriate parsing function, ensuring that all data is loaded and ready for further processing.</a:t>
            </a:r>
          </a:p>
          <a:p>
            <a:endParaRPr lang="en-US" dirty="0">
              <a:ea typeface="+mn-lt"/>
              <a:cs typeface="+mn-lt"/>
            </a:endParaRPr>
          </a:p>
          <a:p>
            <a:endParaRPr lang="en-US" dirty="0">
              <a:ea typeface="+mn-lt"/>
              <a:cs typeface="+mn-lt"/>
            </a:endParaRPr>
          </a:p>
          <a:p>
            <a:endParaRPr lang="en-US" dirty="0"/>
          </a:p>
          <a:p>
            <a:pPr algn="l"/>
            <a:endParaRPr lang="en-US" dirty="0"/>
          </a:p>
        </p:txBody>
      </p:sp>
      <p:pic>
        <p:nvPicPr>
          <p:cNvPr id="6" name="Picture 5" descr="A screen shot of a computer program&#10;&#10;AI-generated content may be incorrect.">
            <a:extLst>
              <a:ext uri="{FF2B5EF4-FFF2-40B4-BE49-F238E27FC236}">
                <a16:creationId xmlns:a16="http://schemas.microsoft.com/office/drawing/2014/main" id="{039CAB99-61A3-592B-D7BE-1C7617B0A684}"/>
              </a:ext>
            </a:extLst>
          </p:cNvPr>
          <p:cNvPicPr>
            <a:picLocks noChangeAspect="1"/>
          </p:cNvPicPr>
          <p:nvPr/>
        </p:nvPicPr>
        <p:blipFill>
          <a:blip r:embed="rId2"/>
          <a:stretch>
            <a:fillRect/>
          </a:stretch>
        </p:blipFill>
        <p:spPr>
          <a:xfrm>
            <a:off x="7527396" y="2055284"/>
            <a:ext cx="4181475" cy="2933700"/>
          </a:xfrm>
          <a:prstGeom prst="rect">
            <a:avLst/>
          </a:prstGeom>
        </p:spPr>
      </p:pic>
    </p:spTree>
    <p:extLst>
      <p:ext uri="{BB962C8B-B14F-4D97-AF65-F5344CB8AC3E}">
        <p14:creationId xmlns:p14="http://schemas.microsoft.com/office/powerpoint/2010/main" val="15464107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C3BA0-DD5E-1B30-B066-69DE4B2D2D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33C181-1F65-B86A-3981-517DA240E4EC}"/>
              </a:ext>
            </a:extLst>
          </p:cNvPr>
          <p:cNvSpPr>
            <a:spLocks noGrp="1"/>
          </p:cNvSpPr>
          <p:nvPr>
            <p:ph type="ctrTitle"/>
          </p:nvPr>
        </p:nvSpPr>
        <p:spPr>
          <a:xfrm>
            <a:off x="1524000" y="216429"/>
            <a:ext cx="9144000" cy="668867"/>
          </a:xfrm>
        </p:spPr>
        <p:txBody>
          <a:bodyPr>
            <a:normAutofit/>
          </a:bodyPr>
          <a:lstStyle/>
          <a:p>
            <a:r>
              <a:rPr lang="en-US" sz="4000">
                <a:ea typeface="+mj-lt"/>
                <a:cs typeface="+mj-lt"/>
              </a:rPr>
              <a:t>Parser</a:t>
            </a:r>
            <a:endParaRPr lang="en-US" sz="4000"/>
          </a:p>
        </p:txBody>
      </p:sp>
      <p:sp>
        <p:nvSpPr>
          <p:cNvPr id="3" name="Subtitle 2">
            <a:extLst>
              <a:ext uri="{FF2B5EF4-FFF2-40B4-BE49-F238E27FC236}">
                <a16:creationId xmlns:a16="http://schemas.microsoft.com/office/drawing/2014/main" id="{19CEF8D2-BC47-CFF9-D051-15845AA8BC31}"/>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19B2FEDA-B837-3FC6-36A8-59106D8F918F}"/>
              </a:ext>
            </a:extLst>
          </p:cNvPr>
          <p:cNvSpPr txBox="1"/>
          <p:nvPr/>
        </p:nvSpPr>
        <p:spPr>
          <a:xfrm>
            <a:off x="726068" y="2055746"/>
            <a:ext cx="5859965" cy="480131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To handle the submissions info, each line is tokenized to extract the submission ID and domain (primary and secondary). Non essential fields like title, authors, and email are ignored. The relevant information of valid submissions is stored in a submission structure, which is then stored in a vector of submissions.</a:t>
            </a:r>
          </a:p>
          <a:p>
            <a:r>
              <a:rPr lang="en-US" dirty="0">
                <a:ea typeface="+mn-lt"/>
                <a:cs typeface="+mn-lt"/>
              </a:rPr>
              <a:t>In terms of reviewers, each reviewer’s ID and expertise domains are extracted similarly and stored in a reviewer structure and then in a vector.</a:t>
            </a:r>
          </a:p>
          <a:p>
            <a:r>
              <a:rPr lang="en-US" dirty="0">
                <a:ea typeface="+mn-lt"/>
                <a:cs typeface="+mn-lt"/>
              </a:rPr>
              <a:t>When it comes to parameters, workflow parameters are </a:t>
            </a:r>
            <a:r>
              <a:rPr lang="en-US">
                <a:ea typeface="+mn-lt"/>
                <a:cs typeface="+mn-lt"/>
              </a:rPr>
              <a:t>read and then stored in a parameters_ structure.</a:t>
            </a:r>
          </a:p>
          <a:p>
            <a:r>
              <a:rPr lang="en-US">
                <a:ea typeface="+mn-lt"/>
                <a:cs typeface="+mn-lt"/>
              </a:rPr>
              <a:t>Lastly, to handle control settings, control information is read, trimming any surrounding spaces or quotation marks and saving the relevant info in a control_ structure.</a:t>
            </a:r>
          </a:p>
          <a:p>
            <a:endParaRPr lang="en-US" dirty="0">
              <a:ea typeface="+mn-lt"/>
              <a:cs typeface="+mn-lt"/>
            </a:endParaRPr>
          </a:p>
          <a:p>
            <a:endParaRPr lang="en-US" dirty="0"/>
          </a:p>
          <a:p>
            <a:pPr algn="l"/>
            <a:endParaRPr lang="en-US" dirty="0"/>
          </a:p>
        </p:txBody>
      </p:sp>
      <p:pic>
        <p:nvPicPr>
          <p:cNvPr id="7" name="Picture 6" descr="A screen shot of a computer code&#10;&#10;AI-generated content may be incorrect.">
            <a:extLst>
              <a:ext uri="{FF2B5EF4-FFF2-40B4-BE49-F238E27FC236}">
                <a16:creationId xmlns:a16="http://schemas.microsoft.com/office/drawing/2014/main" id="{34729D54-68C7-F4B0-14A6-66ED70FDD4DC}"/>
              </a:ext>
            </a:extLst>
          </p:cNvPr>
          <p:cNvPicPr>
            <a:picLocks noChangeAspect="1"/>
          </p:cNvPicPr>
          <p:nvPr/>
        </p:nvPicPr>
        <p:blipFill>
          <a:blip r:embed="rId2"/>
          <a:stretch>
            <a:fillRect/>
          </a:stretch>
        </p:blipFill>
        <p:spPr>
          <a:xfrm>
            <a:off x="7062258" y="2519892"/>
            <a:ext cx="4705350" cy="2952750"/>
          </a:xfrm>
          <a:prstGeom prst="rect">
            <a:avLst/>
          </a:prstGeom>
        </p:spPr>
      </p:pic>
    </p:spTree>
    <p:extLst>
      <p:ext uri="{BB962C8B-B14F-4D97-AF65-F5344CB8AC3E}">
        <p14:creationId xmlns:p14="http://schemas.microsoft.com/office/powerpoint/2010/main" val="12200768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DACEC-4368-D328-62E1-5CF580983C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DFE2CE-93F1-39A6-754F-26361055FC2F}"/>
              </a:ext>
            </a:extLst>
          </p:cNvPr>
          <p:cNvSpPr>
            <a:spLocks noGrp="1"/>
          </p:cNvSpPr>
          <p:nvPr>
            <p:ph type="ctrTitle"/>
          </p:nvPr>
        </p:nvSpPr>
        <p:spPr>
          <a:xfrm>
            <a:off x="1524000" y="216429"/>
            <a:ext cx="9144000" cy="668867"/>
          </a:xfrm>
        </p:spPr>
        <p:txBody>
          <a:bodyPr>
            <a:normAutofit/>
          </a:bodyPr>
          <a:lstStyle/>
          <a:p>
            <a:r>
              <a:rPr lang="en-US" sz="4000">
                <a:ea typeface="+mj-lt"/>
                <a:cs typeface="+mj-lt"/>
              </a:rPr>
              <a:t>Parser</a:t>
            </a:r>
            <a:endParaRPr lang="en-US" sz="4000"/>
          </a:p>
        </p:txBody>
      </p:sp>
      <p:sp>
        <p:nvSpPr>
          <p:cNvPr id="3" name="Subtitle 2">
            <a:extLst>
              <a:ext uri="{FF2B5EF4-FFF2-40B4-BE49-F238E27FC236}">
                <a16:creationId xmlns:a16="http://schemas.microsoft.com/office/drawing/2014/main" id="{879BADA8-2C6C-C5C4-BC61-0BA52F850F48}"/>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What it  is responsible for</a:t>
            </a:r>
          </a:p>
        </p:txBody>
      </p:sp>
      <p:sp>
        <p:nvSpPr>
          <p:cNvPr id="4" name="TextBox 3">
            <a:extLst>
              <a:ext uri="{FF2B5EF4-FFF2-40B4-BE49-F238E27FC236}">
                <a16:creationId xmlns:a16="http://schemas.microsoft.com/office/drawing/2014/main" id="{E9DD4ED1-1F8E-93C2-CFAF-58F743A47C68}"/>
              </a:ext>
            </a:extLst>
          </p:cNvPr>
          <p:cNvSpPr txBox="1"/>
          <p:nvPr/>
        </p:nvSpPr>
        <p:spPr>
          <a:xfrm>
            <a:off x="726068" y="2055746"/>
            <a:ext cx="10745231"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a:ea typeface="+mn-lt"/>
                <a:cs typeface="+mn-lt"/>
              </a:rPr>
              <a:t>Modular parsing for each data type (submission, reviewer, parameters, control)</a:t>
            </a:r>
            <a:endParaRPr lang="en-US"/>
          </a:p>
          <a:p>
            <a:pPr marL="285750" indent="-285750">
              <a:buFont typeface="Arial"/>
              <a:buChar char="•"/>
            </a:pPr>
            <a:r>
              <a:rPr lang="en-US">
                <a:ea typeface="+mn-lt"/>
                <a:cs typeface="+mn-lt"/>
              </a:rPr>
              <a:t>Handling invalid entries adequately</a:t>
            </a:r>
            <a:endParaRPr lang="en-US"/>
          </a:p>
          <a:p>
            <a:pPr marL="285750" indent="-285750">
              <a:buFont typeface="Arial"/>
              <a:buChar char="•"/>
            </a:pPr>
            <a:r>
              <a:rPr lang="en-US" dirty="0">
                <a:ea typeface="+mn-lt"/>
                <a:cs typeface="+mn-lt"/>
              </a:rPr>
              <a:t>Preparing all data for subsequent algorithms (Maximal Bipartite Matching, etc...) and menu-based interfaces</a:t>
            </a:r>
            <a:endParaRPr lang="en-US" dirty="0"/>
          </a:p>
          <a:p>
            <a:endParaRPr lang="en-US" dirty="0"/>
          </a:p>
          <a:p>
            <a:pPr algn="l"/>
            <a:endParaRPr lang="en-US" dirty="0"/>
          </a:p>
        </p:txBody>
      </p:sp>
    </p:spTree>
    <p:extLst>
      <p:ext uri="{BB962C8B-B14F-4D97-AF65-F5344CB8AC3E}">
        <p14:creationId xmlns:p14="http://schemas.microsoft.com/office/powerpoint/2010/main" val="4480000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44ACF-5129-3431-3379-838A0413EF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72D0CF-7DBC-059B-6681-27195D13F06E}"/>
              </a:ext>
            </a:extLst>
          </p:cNvPr>
          <p:cNvSpPr>
            <a:spLocks noGrp="1"/>
          </p:cNvSpPr>
          <p:nvPr>
            <p:ph type="ctrTitle"/>
          </p:nvPr>
        </p:nvSpPr>
        <p:spPr>
          <a:xfrm>
            <a:off x="1524000" y="216429"/>
            <a:ext cx="9144000" cy="668867"/>
          </a:xfrm>
        </p:spPr>
        <p:txBody>
          <a:bodyPr>
            <a:normAutofit/>
          </a:bodyPr>
          <a:lstStyle/>
          <a:p>
            <a:r>
              <a:rPr lang="en-US" sz="4000">
                <a:ea typeface="+mj-lt"/>
                <a:cs typeface="+mj-lt"/>
              </a:rPr>
              <a:t>Parser</a:t>
            </a:r>
            <a:endParaRPr lang="en-US" sz="4000"/>
          </a:p>
        </p:txBody>
      </p:sp>
      <p:sp>
        <p:nvSpPr>
          <p:cNvPr id="3" name="Subtitle 2">
            <a:extLst>
              <a:ext uri="{FF2B5EF4-FFF2-40B4-BE49-F238E27FC236}">
                <a16:creationId xmlns:a16="http://schemas.microsoft.com/office/drawing/2014/main" id="{02B69142-63DB-5493-8C1C-03A4C3378CEA}"/>
              </a:ext>
            </a:extLst>
          </p:cNvPr>
          <p:cNvSpPr>
            <a:spLocks noGrp="1"/>
          </p:cNvSpPr>
          <p:nvPr>
            <p:ph type="subTitle" idx="1"/>
          </p:nvPr>
        </p:nvSpPr>
        <p:spPr>
          <a:xfrm>
            <a:off x="1254512" y="1019705"/>
            <a:ext cx="9692268" cy="512762"/>
          </a:xfrm>
        </p:spPr>
        <p:txBody>
          <a:bodyPr vert="horz" lIns="91440" tIns="45720" rIns="91440" bIns="45720" rtlCol="0" anchor="t">
            <a:noAutofit/>
          </a:bodyPr>
          <a:lstStyle/>
          <a:p>
            <a:r>
              <a:rPr lang="en-US" sz="3000"/>
              <a:t>Why it needs to read the file from the start for each header</a:t>
            </a:r>
          </a:p>
          <a:p>
            <a:endParaRPr lang="en-US" sz="3000" dirty="0"/>
          </a:p>
        </p:txBody>
      </p:sp>
      <p:sp>
        <p:nvSpPr>
          <p:cNvPr id="4" name="TextBox 3">
            <a:extLst>
              <a:ext uri="{FF2B5EF4-FFF2-40B4-BE49-F238E27FC236}">
                <a16:creationId xmlns:a16="http://schemas.microsoft.com/office/drawing/2014/main" id="{30B55B87-252D-197D-DCDE-B1292264ACCD}"/>
              </a:ext>
            </a:extLst>
          </p:cNvPr>
          <p:cNvSpPr txBox="1"/>
          <p:nvPr/>
        </p:nvSpPr>
        <p:spPr>
          <a:xfrm>
            <a:off x="726068" y="2055746"/>
            <a:ext cx="10745231"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Due to some irregularities in the dataset file (e.g. An '#' between Submissions and Reviewers) and some doubts about the .csv structure (e.g. Can the topics have a different order), led us to make the decision to create the most generic parser to avoid problems in the future.</a:t>
            </a:r>
            <a:endParaRPr lang="en-US" dirty="0"/>
          </a:p>
          <a:p>
            <a:endParaRPr lang="en-US" dirty="0"/>
          </a:p>
          <a:p>
            <a:pPr algn="l"/>
            <a:endParaRPr lang="en-US" dirty="0"/>
          </a:p>
        </p:txBody>
      </p:sp>
    </p:spTree>
    <p:extLst>
      <p:ext uri="{BB962C8B-B14F-4D97-AF65-F5344CB8AC3E}">
        <p14:creationId xmlns:p14="http://schemas.microsoft.com/office/powerpoint/2010/main" val="17811058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C3670-619A-97DC-6C2B-272EBC8D1F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0E874B-561E-2F3B-3540-72184106D3B6}"/>
              </a:ext>
            </a:extLst>
          </p:cNvPr>
          <p:cNvSpPr>
            <a:spLocks noGrp="1"/>
          </p:cNvSpPr>
          <p:nvPr>
            <p:ph type="ctrTitle"/>
          </p:nvPr>
        </p:nvSpPr>
        <p:spPr>
          <a:xfrm>
            <a:off x="1524000" y="216429"/>
            <a:ext cx="9144000" cy="668867"/>
          </a:xfrm>
        </p:spPr>
        <p:txBody>
          <a:bodyPr>
            <a:normAutofit/>
          </a:bodyPr>
          <a:lstStyle/>
          <a:p>
            <a:r>
              <a:rPr lang="en-US" sz="4000">
                <a:ea typeface="+mj-lt"/>
                <a:cs typeface="+mj-lt"/>
              </a:rPr>
              <a:t>Parser</a:t>
            </a:r>
            <a:endParaRPr lang="en-US" sz="4000"/>
          </a:p>
        </p:txBody>
      </p:sp>
      <p:sp>
        <p:nvSpPr>
          <p:cNvPr id="3" name="Subtitle 2">
            <a:extLst>
              <a:ext uri="{FF2B5EF4-FFF2-40B4-BE49-F238E27FC236}">
                <a16:creationId xmlns:a16="http://schemas.microsoft.com/office/drawing/2014/main" id="{81664839-6FA2-A523-BBD1-E881B2C474FA}"/>
              </a:ext>
            </a:extLst>
          </p:cNvPr>
          <p:cNvSpPr>
            <a:spLocks noGrp="1"/>
          </p:cNvSpPr>
          <p:nvPr>
            <p:ph type="subTitle" idx="1"/>
          </p:nvPr>
        </p:nvSpPr>
        <p:spPr>
          <a:xfrm>
            <a:off x="1254512" y="1019705"/>
            <a:ext cx="9692268" cy="512762"/>
          </a:xfrm>
        </p:spPr>
        <p:txBody>
          <a:bodyPr vert="horz" lIns="91440" tIns="45720" rIns="91440" bIns="45720" rtlCol="0" anchor="t">
            <a:noAutofit/>
          </a:bodyPr>
          <a:lstStyle/>
          <a:p>
            <a:r>
              <a:rPr lang="en-US" sz="3000"/>
              <a:t>Time complexity</a:t>
            </a:r>
            <a:endParaRPr lang="en-US"/>
          </a:p>
        </p:txBody>
      </p:sp>
      <p:sp>
        <p:nvSpPr>
          <p:cNvPr id="4" name="TextBox 3">
            <a:extLst>
              <a:ext uri="{FF2B5EF4-FFF2-40B4-BE49-F238E27FC236}">
                <a16:creationId xmlns:a16="http://schemas.microsoft.com/office/drawing/2014/main" id="{9A0E3988-416C-A0E5-6E47-8D3E1C72D2FE}"/>
              </a:ext>
            </a:extLst>
          </p:cNvPr>
          <p:cNvSpPr txBox="1"/>
          <p:nvPr/>
        </p:nvSpPr>
        <p:spPr>
          <a:xfrm>
            <a:off x="726068" y="2055746"/>
            <a:ext cx="1074523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Let l be the number of lines and h be the number of headers, the upper bound can be defined to be O(l * h). So in this project, the time complexity to parse the dataset is O(4 * l) = O(l)</a:t>
            </a:r>
            <a:endParaRPr lang="en-US" dirty="0"/>
          </a:p>
          <a:p>
            <a:endParaRPr lang="en-US" dirty="0"/>
          </a:p>
          <a:p>
            <a:pPr algn="l"/>
            <a:endParaRPr lang="en-US" dirty="0"/>
          </a:p>
        </p:txBody>
      </p:sp>
    </p:spTree>
    <p:extLst>
      <p:ext uri="{BB962C8B-B14F-4D97-AF65-F5344CB8AC3E}">
        <p14:creationId xmlns:p14="http://schemas.microsoft.com/office/powerpoint/2010/main" val="36704561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EB92A-437E-D041-1EB6-8F953C1656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2EC2D1-2AF1-283A-DD34-9AF79BDB32E5}"/>
              </a:ext>
            </a:extLst>
          </p:cNvPr>
          <p:cNvSpPr>
            <a:spLocks noGrp="1"/>
          </p:cNvSpPr>
          <p:nvPr>
            <p:ph type="ctrTitle"/>
          </p:nvPr>
        </p:nvSpPr>
        <p:spPr>
          <a:xfrm>
            <a:off x="1524000" y="216429"/>
            <a:ext cx="9144000" cy="668867"/>
          </a:xfrm>
        </p:spPr>
        <p:txBody>
          <a:bodyPr>
            <a:normAutofit/>
          </a:bodyPr>
          <a:lstStyle/>
          <a:p>
            <a:r>
              <a:rPr lang="en-US" sz="4000">
                <a:ea typeface="+mj-lt"/>
                <a:cs typeface="+mj-lt"/>
              </a:rPr>
              <a:t>Adapter</a:t>
            </a:r>
            <a:endParaRPr lang="en-US" sz="4000"/>
          </a:p>
        </p:txBody>
      </p:sp>
      <p:sp>
        <p:nvSpPr>
          <p:cNvPr id="3" name="Subtitle 2">
            <a:extLst>
              <a:ext uri="{FF2B5EF4-FFF2-40B4-BE49-F238E27FC236}">
                <a16:creationId xmlns:a16="http://schemas.microsoft.com/office/drawing/2014/main" id="{ED5796FE-D75B-76F6-F2A7-3A638DAD958C}"/>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5154F0ED-35CD-796C-0255-76CED54134E9}"/>
              </a:ext>
            </a:extLst>
          </p:cNvPr>
          <p:cNvSpPr txBox="1"/>
          <p:nvPr/>
        </p:nvSpPr>
        <p:spPr>
          <a:xfrm>
            <a:off x="726068" y="2055746"/>
            <a:ext cx="10745231"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The Adapter class is responsible for transforming the data processed by the parser into a graph structure. The data in the parser is divided into 4 different attributes: reviewers, submissions, parameters and control. The adapter's goal is to create a bipartite graph which separates the reviewers and the submissions, to be later handled by a max flow algorithm.</a:t>
            </a:r>
          </a:p>
          <a:p>
            <a:pPr algn="l"/>
            <a:endParaRPr lang="en-US" dirty="0"/>
          </a:p>
        </p:txBody>
      </p:sp>
      <p:pic>
        <p:nvPicPr>
          <p:cNvPr id="6" name="Picture 5" descr="A screenshot of a computer program&#10;&#10;AI-generated content may be incorrect.">
            <a:extLst>
              <a:ext uri="{FF2B5EF4-FFF2-40B4-BE49-F238E27FC236}">
                <a16:creationId xmlns:a16="http://schemas.microsoft.com/office/drawing/2014/main" id="{E4B45170-81E3-354D-9647-9121840B90AB}"/>
              </a:ext>
            </a:extLst>
          </p:cNvPr>
          <p:cNvPicPr>
            <a:picLocks noChangeAspect="1"/>
          </p:cNvPicPr>
          <p:nvPr/>
        </p:nvPicPr>
        <p:blipFill>
          <a:blip r:embed="rId2"/>
          <a:stretch>
            <a:fillRect/>
          </a:stretch>
        </p:blipFill>
        <p:spPr>
          <a:xfrm>
            <a:off x="2638425" y="4176713"/>
            <a:ext cx="6915150" cy="1552575"/>
          </a:xfrm>
          <a:prstGeom prst="rect">
            <a:avLst/>
          </a:prstGeom>
        </p:spPr>
      </p:pic>
    </p:spTree>
    <p:extLst>
      <p:ext uri="{BB962C8B-B14F-4D97-AF65-F5344CB8AC3E}">
        <p14:creationId xmlns:p14="http://schemas.microsoft.com/office/powerpoint/2010/main" val="17454024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8891C-913C-D91A-AC83-BA50A0B772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A4EA83-5F57-128B-CDB2-F2C07AE78ED5}"/>
              </a:ext>
            </a:extLst>
          </p:cNvPr>
          <p:cNvSpPr>
            <a:spLocks noGrp="1"/>
          </p:cNvSpPr>
          <p:nvPr>
            <p:ph type="ctrTitle"/>
          </p:nvPr>
        </p:nvSpPr>
        <p:spPr>
          <a:xfrm>
            <a:off x="1524000" y="216429"/>
            <a:ext cx="9144000" cy="668867"/>
          </a:xfrm>
        </p:spPr>
        <p:txBody>
          <a:bodyPr>
            <a:normAutofit/>
          </a:bodyPr>
          <a:lstStyle/>
          <a:p>
            <a:r>
              <a:rPr lang="en-US" sz="4000">
                <a:ea typeface="+mj-lt"/>
                <a:cs typeface="+mj-lt"/>
              </a:rPr>
              <a:t>Adapter</a:t>
            </a:r>
            <a:endParaRPr lang="en-US" sz="4000"/>
          </a:p>
        </p:txBody>
      </p:sp>
      <p:sp>
        <p:nvSpPr>
          <p:cNvPr id="3" name="Subtitle 2">
            <a:extLst>
              <a:ext uri="{FF2B5EF4-FFF2-40B4-BE49-F238E27FC236}">
                <a16:creationId xmlns:a16="http://schemas.microsoft.com/office/drawing/2014/main" id="{F7EE0647-64B4-32AB-E30F-4D5FD17E5395}"/>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0E6C0BD1-29E6-8C30-C2BB-41DAFF213D7C}"/>
              </a:ext>
            </a:extLst>
          </p:cNvPr>
          <p:cNvSpPr txBox="1"/>
          <p:nvPr/>
        </p:nvSpPr>
        <p:spPr>
          <a:xfrm>
            <a:off x="726068" y="2055746"/>
            <a:ext cx="6723565" cy="23083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First of all, the adapter adds a source and a sink nodes to the graph, so it can be used by the max flow algorithm.</a:t>
            </a:r>
          </a:p>
          <a:p>
            <a:r>
              <a:rPr lang="en-US" dirty="0">
                <a:ea typeface="+mn-lt"/>
                <a:cs typeface="+mn-lt"/>
              </a:rPr>
              <a:t>Then, it adds a node to the graph for each reviewer, adding an edge between the source node and each of the reviewer nodes, with weight equal to the </a:t>
            </a:r>
            <a:r>
              <a:rPr lang="en-US" dirty="0" err="1">
                <a:ea typeface="+mn-lt"/>
                <a:cs typeface="+mn-lt"/>
              </a:rPr>
              <a:t>maxReviews</a:t>
            </a:r>
            <a:r>
              <a:rPr lang="en-US" dirty="0">
                <a:ea typeface="+mn-lt"/>
                <a:cs typeface="+mn-lt"/>
              </a:rPr>
              <a:t> parameter. It also creates an auxiliar map of each reviewer node id and the reviewers expertise, accounting on the parameters </a:t>
            </a:r>
            <a:r>
              <a:rPr lang="en-US" dirty="0" err="1">
                <a:ea typeface="+mn-lt"/>
                <a:cs typeface="+mn-lt"/>
              </a:rPr>
              <a:t>primaryRev</a:t>
            </a:r>
            <a:r>
              <a:rPr lang="en-US" dirty="0">
                <a:ea typeface="+mn-lt"/>
                <a:cs typeface="+mn-lt"/>
              </a:rPr>
              <a:t> and </a:t>
            </a:r>
            <a:r>
              <a:rPr lang="en-US" dirty="0" err="1">
                <a:ea typeface="+mn-lt"/>
                <a:cs typeface="+mn-lt"/>
              </a:rPr>
              <a:t>secondaryRev</a:t>
            </a:r>
            <a:r>
              <a:rPr lang="en-US" dirty="0">
                <a:ea typeface="+mn-lt"/>
                <a:cs typeface="+mn-lt"/>
              </a:rPr>
              <a:t>, that determine which of the domains are to have in account.</a:t>
            </a:r>
          </a:p>
        </p:txBody>
      </p:sp>
      <p:pic>
        <p:nvPicPr>
          <p:cNvPr id="7" name="Picture 6" descr="A screen shot of a computer code&#10;&#10;AI-generated content may be incorrect.">
            <a:extLst>
              <a:ext uri="{FF2B5EF4-FFF2-40B4-BE49-F238E27FC236}">
                <a16:creationId xmlns:a16="http://schemas.microsoft.com/office/drawing/2014/main" id="{99C87B0E-9A14-61F1-7A14-DFF4B23A370B}"/>
              </a:ext>
            </a:extLst>
          </p:cNvPr>
          <p:cNvPicPr>
            <a:picLocks noChangeAspect="1"/>
          </p:cNvPicPr>
          <p:nvPr/>
        </p:nvPicPr>
        <p:blipFill>
          <a:blip r:embed="rId2"/>
          <a:srcRect l="6295" t="-180" r="5569" b="617"/>
          <a:stretch>
            <a:fillRect/>
          </a:stretch>
        </p:blipFill>
        <p:spPr>
          <a:xfrm>
            <a:off x="7992081" y="2139380"/>
            <a:ext cx="3383155" cy="1498373"/>
          </a:xfrm>
          <a:prstGeom prst="rect">
            <a:avLst/>
          </a:prstGeom>
        </p:spPr>
      </p:pic>
    </p:spTree>
    <p:extLst>
      <p:ext uri="{BB962C8B-B14F-4D97-AF65-F5344CB8AC3E}">
        <p14:creationId xmlns:p14="http://schemas.microsoft.com/office/powerpoint/2010/main" val="4196815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255DF1-B46B-8990-D238-A361FE3919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B343F0-A31D-AC6E-F9B8-8744EC855060}"/>
              </a:ext>
            </a:extLst>
          </p:cNvPr>
          <p:cNvSpPr>
            <a:spLocks noGrp="1"/>
          </p:cNvSpPr>
          <p:nvPr>
            <p:ph type="ctrTitle"/>
          </p:nvPr>
        </p:nvSpPr>
        <p:spPr>
          <a:xfrm>
            <a:off x="1524000" y="216429"/>
            <a:ext cx="9144000" cy="668867"/>
          </a:xfrm>
        </p:spPr>
        <p:txBody>
          <a:bodyPr>
            <a:normAutofit/>
          </a:bodyPr>
          <a:lstStyle/>
          <a:p>
            <a:r>
              <a:rPr lang="en-US" sz="4000">
                <a:ea typeface="+mj-lt"/>
                <a:cs typeface="+mj-lt"/>
              </a:rPr>
              <a:t>Adapter</a:t>
            </a:r>
            <a:endParaRPr lang="en-US" sz="4000"/>
          </a:p>
        </p:txBody>
      </p:sp>
      <p:sp>
        <p:nvSpPr>
          <p:cNvPr id="3" name="Subtitle 2">
            <a:extLst>
              <a:ext uri="{FF2B5EF4-FFF2-40B4-BE49-F238E27FC236}">
                <a16:creationId xmlns:a16="http://schemas.microsoft.com/office/drawing/2014/main" id="{216A4025-3313-197F-EDC9-5E1D4DF06FF1}"/>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F87942A3-4284-BFF3-0EAC-3BE24E780D89}"/>
              </a:ext>
            </a:extLst>
          </p:cNvPr>
          <p:cNvSpPr txBox="1"/>
          <p:nvPr/>
        </p:nvSpPr>
        <p:spPr>
          <a:xfrm>
            <a:off x="726068" y="2055746"/>
            <a:ext cx="6164765" cy="34163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After that, it adds a node to the graph for each submission, adding an edge between each of the reviewer nodes and the sink node, with weight equal to the </a:t>
            </a:r>
            <a:r>
              <a:rPr lang="en-US" dirty="0" err="1">
                <a:ea typeface="+mn-lt"/>
                <a:cs typeface="+mn-lt"/>
              </a:rPr>
              <a:t>minReviews</a:t>
            </a:r>
            <a:r>
              <a:rPr lang="en-US" dirty="0">
                <a:ea typeface="+mn-lt"/>
                <a:cs typeface="+mn-lt"/>
              </a:rPr>
              <a:t> parameter. It also adds an edge between each reviewer node, and each submission node that has a common domain to have in account, using the reviewers expertise auxiliar map, with weight 1 because each reviewer can only review each submission once.</a:t>
            </a:r>
          </a:p>
          <a:p>
            <a:r>
              <a:rPr lang="en-US" dirty="0">
                <a:ea typeface="+mn-lt"/>
                <a:cs typeface="+mn-lt"/>
              </a:rPr>
              <a:t>The parser has a map attribute, that maps every node to its type (source, sink, reviewer, submission), so that it is easier to read the graph's information after running the max flow algorithm, specially for showing the output.</a:t>
            </a:r>
          </a:p>
        </p:txBody>
      </p:sp>
      <p:pic>
        <p:nvPicPr>
          <p:cNvPr id="5" name="Picture 4" descr="A screen shot of a computer code&#10;&#10;AI-generated content may be incorrect.">
            <a:extLst>
              <a:ext uri="{FF2B5EF4-FFF2-40B4-BE49-F238E27FC236}">
                <a16:creationId xmlns:a16="http://schemas.microsoft.com/office/drawing/2014/main" id="{EB584121-9255-CB31-D35A-21599C140F2C}"/>
              </a:ext>
            </a:extLst>
          </p:cNvPr>
          <p:cNvPicPr>
            <a:picLocks noChangeAspect="1"/>
          </p:cNvPicPr>
          <p:nvPr/>
        </p:nvPicPr>
        <p:blipFill>
          <a:blip r:embed="rId2"/>
          <a:stretch>
            <a:fillRect/>
          </a:stretch>
        </p:blipFill>
        <p:spPr>
          <a:xfrm>
            <a:off x="8000975" y="4265355"/>
            <a:ext cx="2173093" cy="1423406"/>
          </a:xfrm>
          <a:prstGeom prst="rect">
            <a:avLst/>
          </a:prstGeom>
        </p:spPr>
      </p:pic>
    </p:spTree>
    <p:extLst>
      <p:ext uri="{BB962C8B-B14F-4D97-AF65-F5344CB8AC3E}">
        <p14:creationId xmlns:p14="http://schemas.microsoft.com/office/powerpoint/2010/main" val="1631993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29DE4-3A0C-72D8-2F8B-5549AE836A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6B4E83-6EAD-6541-A5FA-19CB0EE0060E}"/>
              </a:ext>
            </a:extLst>
          </p:cNvPr>
          <p:cNvSpPr>
            <a:spLocks noGrp="1"/>
          </p:cNvSpPr>
          <p:nvPr>
            <p:ph type="ctrTitle"/>
          </p:nvPr>
        </p:nvSpPr>
        <p:spPr>
          <a:xfrm>
            <a:off x="1524000" y="216429"/>
            <a:ext cx="9144000" cy="668867"/>
          </a:xfrm>
        </p:spPr>
        <p:txBody>
          <a:bodyPr>
            <a:normAutofit/>
          </a:bodyPr>
          <a:lstStyle/>
          <a:p>
            <a:r>
              <a:rPr lang="en-US" sz="4000">
                <a:ea typeface="+mj-lt"/>
                <a:cs typeface="+mj-lt"/>
              </a:rPr>
              <a:t>Adapter</a:t>
            </a:r>
            <a:endParaRPr lang="en-US" sz="4000"/>
          </a:p>
        </p:txBody>
      </p:sp>
      <p:sp>
        <p:nvSpPr>
          <p:cNvPr id="3" name="Subtitle 2">
            <a:extLst>
              <a:ext uri="{FF2B5EF4-FFF2-40B4-BE49-F238E27FC236}">
                <a16:creationId xmlns:a16="http://schemas.microsoft.com/office/drawing/2014/main" id="{67DB347F-B79C-108A-0EEF-BE43CC242DF8}"/>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What it  </a:t>
            </a:r>
            <a:r>
              <a:rPr lang="en-US" sz="3000" dirty="0"/>
              <a:t>is responsible for</a:t>
            </a:r>
          </a:p>
        </p:txBody>
      </p:sp>
      <p:sp>
        <p:nvSpPr>
          <p:cNvPr id="4" name="TextBox 3">
            <a:extLst>
              <a:ext uri="{FF2B5EF4-FFF2-40B4-BE49-F238E27FC236}">
                <a16:creationId xmlns:a16="http://schemas.microsoft.com/office/drawing/2014/main" id="{99BADC99-5FBA-4A26-4B9D-D6F3E6697B41}"/>
              </a:ext>
            </a:extLst>
          </p:cNvPr>
          <p:cNvSpPr txBox="1"/>
          <p:nvPr/>
        </p:nvSpPr>
        <p:spPr>
          <a:xfrm>
            <a:off x="726068" y="2055746"/>
            <a:ext cx="10745231"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a:ea typeface="+mn-lt"/>
                <a:cs typeface="+mn-lt"/>
              </a:rPr>
              <a:t>Converting parsed data into a bipartite graph structure (reviewers and submissions)</a:t>
            </a:r>
            <a:endParaRPr lang="en-US"/>
          </a:p>
          <a:p>
            <a:pPr marL="285750" indent="-285750">
              <a:buFont typeface="Arial"/>
              <a:buChar char="•"/>
            </a:pPr>
            <a:r>
              <a:rPr lang="en-US">
                <a:ea typeface="+mn-lt"/>
                <a:cs typeface="+mn-lt"/>
              </a:rPr>
              <a:t>Assigning and managing node types (source, sink, reviewer, submission)</a:t>
            </a:r>
            <a:endParaRPr lang="en-US"/>
          </a:p>
          <a:p>
            <a:pPr marL="285750" indent="-285750">
              <a:buFont typeface="Arial"/>
              <a:buChar char="•"/>
            </a:pPr>
            <a:r>
              <a:rPr lang="en-US" dirty="0">
                <a:ea typeface="+mn-lt"/>
                <a:cs typeface="+mn-lt"/>
              </a:rPr>
              <a:t>Establishing the appropriate connections between nodes for the max flow algorithm</a:t>
            </a:r>
            <a:endParaRPr lang="en-US" dirty="0"/>
          </a:p>
          <a:p>
            <a:pPr marL="285750" indent="-285750">
              <a:buFont typeface="Arial"/>
              <a:buChar char="•"/>
            </a:pPr>
            <a:r>
              <a:rPr lang="en-US" dirty="0">
                <a:ea typeface="+mn-lt"/>
                <a:cs typeface="+mn-lt"/>
              </a:rPr>
              <a:t>Preparing the graph for subsequent algorithms (Max Flow, Risk analysis, etc...)</a:t>
            </a:r>
            <a:endParaRPr lang="en-US" dirty="0"/>
          </a:p>
          <a:p>
            <a:pPr>
              <a:buFont typeface="Arial"/>
            </a:pPr>
            <a:endParaRPr lang="en-US" dirty="0"/>
          </a:p>
          <a:p>
            <a:endParaRPr lang="en-US" dirty="0"/>
          </a:p>
          <a:p>
            <a:pPr algn="l"/>
            <a:endParaRPr lang="en-US" dirty="0"/>
          </a:p>
        </p:txBody>
      </p:sp>
    </p:spTree>
    <p:extLst>
      <p:ext uri="{BB962C8B-B14F-4D97-AF65-F5344CB8AC3E}">
        <p14:creationId xmlns:p14="http://schemas.microsoft.com/office/powerpoint/2010/main" val="15626740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0271E-1B06-29DE-E421-F450D3A935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B76DA3-4255-23CB-7AF4-23D99EE1F7E2}"/>
              </a:ext>
            </a:extLst>
          </p:cNvPr>
          <p:cNvSpPr>
            <a:spLocks noGrp="1"/>
          </p:cNvSpPr>
          <p:nvPr>
            <p:ph type="ctrTitle"/>
          </p:nvPr>
        </p:nvSpPr>
        <p:spPr>
          <a:xfrm>
            <a:off x="1524000" y="216429"/>
            <a:ext cx="9144000" cy="668867"/>
          </a:xfrm>
        </p:spPr>
        <p:txBody>
          <a:bodyPr>
            <a:normAutofit/>
          </a:bodyPr>
          <a:lstStyle/>
          <a:p>
            <a:r>
              <a:rPr lang="en-US" sz="4000">
                <a:ea typeface="+mj-lt"/>
                <a:cs typeface="+mj-lt"/>
              </a:rPr>
              <a:t>Adapter</a:t>
            </a:r>
            <a:endParaRPr lang="en-US" sz="4000"/>
          </a:p>
        </p:txBody>
      </p:sp>
      <p:sp>
        <p:nvSpPr>
          <p:cNvPr id="3" name="Subtitle 2">
            <a:extLst>
              <a:ext uri="{FF2B5EF4-FFF2-40B4-BE49-F238E27FC236}">
                <a16:creationId xmlns:a16="http://schemas.microsoft.com/office/drawing/2014/main" id="{983D336A-E6EA-E481-FBB6-76DD154B590A}"/>
              </a:ext>
            </a:extLst>
          </p:cNvPr>
          <p:cNvSpPr>
            <a:spLocks noGrp="1"/>
          </p:cNvSpPr>
          <p:nvPr>
            <p:ph type="subTitle" idx="1"/>
          </p:nvPr>
        </p:nvSpPr>
        <p:spPr>
          <a:xfrm>
            <a:off x="1254512" y="1019705"/>
            <a:ext cx="9692268" cy="512762"/>
          </a:xfrm>
        </p:spPr>
        <p:txBody>
          <a:bodyPr vert="horz" lIns="91440" tIns="45720" rIns="91440" bIns="45720" rtlCol="0" anchor="t">
            <a:noAutofit/>
          </a:bodyPr>
          <a:lstStyle/>
          <a:p>
            <a:r>
              <a:rPr lang="en-US" sz="3000"/>
              <a:t>Time complexity</a:t>
            </a:r>
            <a:endParaRPr lang="en-US"/>
          </a:p>
        </p:txBody>
      </p:sp>
      <p:sp>
        <p:nvSpPr>
          <p:cNvPr id="4" name="TextBox 3">
            <a:extLst>
              <a:ext uri="{FF2B5EF4-FFF2-40B4-BE49-F238E27FC236}">
                <a16:creationId xmlns:a16="http://schemas.microsoft.com/office/drawing/2014/main" id="{57994E19-E3EA-D48B-B526-92A4270EFC53}"/>
              </a:ext>
            </a:extLst>
          </p:cNvPr>
          <p:cNvSpPr txBox="1"/>
          <p:nvPr/>
        </p:nvSpPr>
        <p:spPr>
          <a:xfrm>
            <a:off x="726068" y="2055746"/>
            <a:ext cx="10745231"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mn-lt"/>
                <a:cs typeface="+mn-lt"/>
              </a:rPr>
              <a:t>Because it creates the graph, the time complexity is O(V + E) </a:t>
            </a:r>
          </a:p>
          <a:p>
            <a:r>
              <a:rPr lang="en-US">
                <a:ea typeface="+mn-lt"/>
                <a:cs typeface="+mn-lt"/>
              </a:rPr>
              <a:t>V: number of vertices </a:t>
            </a:r>
            <a:endParaRPr lang="en-US"/>
          </a:p>
          <a:p>
            <a:r>
              <a:rPr lang="en-US">
                <a:ea typeface="+mn-lt"/>
                <a:cs typeface="+mn-lt"/>
              </a:rPr>
              <a:t>E: number of edges</a:t>
            </a:r>
            <a:endParaRPr lang="en-US"/>
          </a:p>
          <a:p>
            <a:endParaRPr lang="en-US" dirty="0"/>
          </a:p>
          <a:p>
            <a:pPr algn="l"/>
            <a:endParaRPr lang="en-US" dirty="0"/>
          </a:p>
        </p:txBody>
      </p:sp>
    </p:spTree>
    <p:extLst>
      <p:ext uri="{BB962C8B-B14F-4D97-AF65-F5344CB8AC3E}">
        <p14:creationId xmlns:p14="http://schemas.microsoft.com/office/powerpoint/2010/main" val="10469226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847A-39EF-EF68-E71F-35A83A65F9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9C128F-2B08-38B0-2242-27A361769B10}"/>
              </a:ext>
            </a:extLst>
          </p:cNvPr>
          <p:cNvSpPr>
            <a:spLocks noGrp="1"/>
          </p:cNvSpPr>
          <p:nvPr>
            <p:ph type="ctrTitle"/>
          </p:nvPr>
        </p:nvSpPr>
        <p:spPr>
          <a:xfrm>
            <a:off x="1524000" y="216429"/>
            <a:ext cx="9144000" cy="668867"/>
          </a:xfrm>
        </p:spPr>
        <p:txBody>
          <a:bodyPr>
            <a:normAutofit/>
          </a:bodyPr>
          <a:lstStyle/>
          <a:p>
            <a:r>
              <a:rPr lang="en-US" sz="4000" dirty="0" err="1">
                <a:ea typeface="+mj-lt"/>
                <a:cs typeface="+mj-lt"/>
              </a:rPr>
              <a:t>MaxFlow</a:t>
            </a:r>
            <a:endParaRPr lang="en-US" dirty="0" err="1"/>
          </a:p>
        </p:txBody>
      </p:sp>
      <p:sp>
        <p:nvSpPr>
          <p:cNvPr id="3" name="Subtitle 2">
            <a:extLst>
              <a:ext uri="{FF2B5EF4-FFF2-40B4-BE49-F238E27FC236}">
                <a16:creationId xmlns:a16="http://schemas.microsoft.com/office/drawing/2014/main" id="{86D34381-1C80-C999-27A0-932FCCC91087}"/>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301596D8-4EFF-7371-97B1-8C80E5960B05}"/>
              </a:ext>
            </a:extLst>
          </p:cNvPr>
          <p:cNvSpPr txBox="1"/>
          <p:nvPr/>
        </p:nvSpPr>
        <p:spPr>
          <a:xfrm>
            <a:off x="726068" y="2055746"/>
            <a:ext cx="10745231" cy="286232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The </a:t>
            </a:r>
            <a:r>
              <a:rPr lang="en-US" dirty="0" err="1">
                <a:ea typeface="+mn-lt"/>
                <a:cs typeface="+mn-lt"/>
              </a:rPr>
              <a:t>MaxFlow</a:t>
            </a:r>
            <a:r>
              <a:rPr lang="en-US" dirty="0">
                <a:ea typeface="+mn-lt"/>
                <a:cs typeface="+mn-lt"/>
              </a:rPr>
              <a:t> class implements the Edmonds-Karp algorithm, an implementation of the Ford-Fulkerson method that uses a BFS, and, consequently, is shortest oath "oriented", to compute the maximum flow in a directed graph. This maximum flow is used to generate the assignments in the system by modeling the assignment problem as a bipartite graph, where one set of vertices represents submissions and the other represents reviewers, and edges encode assignment possibilities with capacity constraints.</a:t>
            </a:r>
          </a:p>
          <a:p>
            <a:r>
              <a:rPr lang="en-US" dirty="0">
                <a:ea typeface="+mn-lt"/>
                <a:cs typeface="+mn-lt"/>
              </a:rPr>
              <a:t>In this context, computing the maximum flow is equivalent to solving a maximal bipartite matching problem: each unit of flow along an edge represents an assignment of a reviewer to a submission, and the maximum flow guarantees that as many submissions as possible receive the required number of reviewers while respecting all reviewer and submission constraints.</a:t>
            </a:r>
          </a:p>
          <a:p>
            <a:pPr algn="l"/>
            <a:endParaRPr lang="en-US" dirty="0"/>
          </a:p>
        </p:txBody>
      </p:sp>
    </p:spTree>
    <p:extLst>
      <p:ext uri="{BB962C8B-B14F-4D97-AF65-F5344CB8AC3E}">
        <p14:creationId xmlns:p14="http://schemas.microsoft.com/office/powerpoint/2010/main" val="40769435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23261-4A6D-2D46-91E0-EC1500809D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0567D4-1E2E-33BF-188A-8F1DFE1F728D}"/>
              </a:ext>
            </a:extLst>
          </p:cNvPr>
          <p:cNvSpPr>
            <a:spLocks noGrp="1"/>
          </p:cNvSpPr>
          <p:nvPr>
            <p:ph type="ctrTitle"/>
          </p:nvPr>
        </p:nvSpPr>
        <p:spPr>
          <a:xfrm>
            <a:off x="1524000" y="216429"/>
            <a:ext cx="9144000" cy="668867"/>
          </a:xfrm>
        </p:spPr>
        <p:txBody>
          <a:bodyPr>
            <a:normAutofit/>
          </a:bodyPr>
          <a:lstStyle/>
          <a:p>
            <a:r>
              <a:rPr lang="en-US" sz="4000">
                <a:ea typeface="+mj-lt"/>
                <a:cs typeface="+mj-lt"/>
              </a:rPr>
              <a:t>MaxFlow</a:t>
            </a:r>
            <a:endParaRPr lang="en-US"/>
          </a:p>
        </p:txBody>
      </p:sp>
      <p:sp>
        <p:nvSpPr>
          <p:cNvPr id="3" name="Subtitle 2">
            <a:extLst>
              <a:ext uri="{FF2B5EF4-FFF2-40B4-BE49-F238E27FC236}">
                <a16:creationId xmlns:a16="http://schemas.microsoft.com/office/drawing/2014/main" id="{3FF94A84-1FBF-BF90-6214-985E0AA6C864}"/>
              </a:ext>
            </a:extLst>
          </p:cNvPr>
          <p:cNvSpPr>
            <a:spLocks noGrp="1"/>
          </p:cNvSpPr>
          <p:nvPr>
            <p:ph type="subTitle" idx="1"/>
          </p:nvPr>
        </p:nvSpPr>
        <p:spPr>
          <a:xfrm>
            <a:off x="1254512" y="1019705"/>
            <a:ext cx="9692268" cy="512762"/>
          </a:xfrm>
        </p:spPr>
        <p:txBody>
          <a:bodyPr vert="horz" lIns="91440" tIns="45720" rIns="91440" bIns="45720" rtlCol="0" anchor="t">
            <a:noAutofit/>
          </a:bodyPr>
          <a:lstStyle/>
          <a:p>
            <a:r>
              <a:rPr lang="en-US" sz="3000"/>
              <a:t>Time complexity</a:t>
            </a:r>
            <a:endParaRPr lang="en-US"/>
          </a:p>
        </p:txBody>
      </p:sp>
      <p:sp>
        <p:nvSpPr>
          <p:cNvPr id="4" name="TextBox 3">
            <a:extLst>
              <a:ext uri="{FF2B5EF4-FFF2-40B4-BE49-F238E27FC236}">
                <a16:creationId xmlns:a16="http://schemas.microsoft.com/office/drawing/2014/main" id="{6CF5FE66-F462-80DF-65D5-47270D016249}"/>
              </a:ext>
            </a:extLst>
          </p:cNvPr>
          <p:cNvSpPr txBox="1"/>
          <p:nvPr/>
        </p:nvSpPr>
        <p:spPr>
          <a:xfrm>
            <a:off x="726068" y="2055746"/>
            <a:ext cx="10745231"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mn-lt"/>
                <a:cs typeface="+mn-lt"/>
              </a:rPr>
              <a:t>Because it creates the graph, the time complexity is O(V * E²) </a:t>
            </a:r>
          </a:p>
          <a:p>
            <a:r>
              <a:rPr lang="en-US">
                <a:ea typeface="+mn-lt"/>
                <a:cs typeface="+mn-lt"/>
              </a:rPr>
              <a:t>V: number of vertices </a:t>
            </a:r>
          </a:p>
          <a:p>
            <a:r>
              <a:rPr lang="en-US">
                <a:ea typeface="+mn-lt"/>
                <a:cs typeface="+mn-lt"/>
              </a:rPr>
              <a:t>E: number of edges</a:t>
            </a:r>
          </a:p>
          <a:p>
            <a:endParaRPr lang="en-US" dirty="0"/>
          </a:p>
          <a:p>
            <a:pPr algn="l"/>
            <a:endParaRPr lang="en-US" dirty="0"/>
          </a:p>
        </p:txBody>
      </p:sp>
    </p:spTree>
    <p:extLst>
      <p:ext uri="{BB962C8B-B14F-4D97-AF65-F5344CB8AC3E}">
        <p14:creationId xmlns:p14="http://schemas.microsoft.com/office/powerpoint/2010/main" val="38017950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2CE689-C4C3-77B6-58F7-2CA6F67080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A20D0E-8C74-062D-6D22-AA65C434AE45}"/>
              </a:ext>
            </a:extLst>
          </p:cNvPr>
          <p:cNvSpPr>
            <a:spLocks noGrp="1"/>
          </p:cNvSpPr>
          <p:nvPr>
            <p:ph type="ctrTitle"/>
          </p:nvPr>
        </p:nvSpPr>
        <p:spPr>
          <a:xfrm>
            <a:off x="1524000" y="216429"/>
            <a:ext cx="9144000" cy="668867"/>
          </a:xfrm>
        </p:spPr>
        <p:txBody>
          <a:bodyPr>
            <a:normAutofit/>
          </a:bodyPr>
          <a:lstStyle/>
          <a:p>
            <a:r>
              <a:rPr lang="en-US" sz="4000">
                <a:ea typeface="+mj-lt"/>
                <a:cs typeface="+mj-lt"/>
              </a:rPr>
              <a:t>Tool</a:t>
            </a:r>
            <a:endParaRPr lang="en-US"/>
          </a:p>
        </p:txBody>
      </p:sp>
      <p:sp>
        <p:nvSpPr>
          <p:cNvPr id="3" name="Subtitle 2">
            <a:extLst>
              <a:ext uri="{FF2B5EF4-FFF2-40B4-BE49-F238E27FC236}">
                <a16:creationId xmlns:a16="http://schemas.microsoft.com/office/drawing/2014/main" id="{902281BF-1B5E-86AA-7F09-13D0D5BBA110}"/>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9CF2A9DA-C857-3310-2A92-9B16B6657B61}"/>
              </a:ext>
            </a:extLst>
          </p:cNvPr>
          <p:cNvSpPr txBox="1"/>
          <p:nvPr/>
        </p:nvSpPr>
        <p:spPr>
          <a:xfrm>
            <a:off x="726068" y="2055746"/>
            <a:ext cx="10745231"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The Tool class is responsible for executing the core workflow of the system, meaning: transforming parsed input data into a graph representation, running the assignment algorithm, and the corresponding outputs. It is responsible for data preparation, algorithm execution, and result generation.</a:t>
            </a:r>
          </a:p>
          <a:p>
            <a:endParaRPr lang="en-US" dirty="0">
              <a:ea typeface="+mn-lt"/>
              <a:cs typeface="+mn-lt"/>
            </a:endParaRPr>
          </a:p>
          <a:p>
            <a:pPr algn="l"/>
            <a:endParaRPr lang="en-US" dirty="0"/>
          </a:p>
        </p:txBody>
      </p:sp>
    </p:spTree>
    <p:extLst>
      <p:ext uri="{BB962C8B-B14F-4D97-AF65-F5344CB8AC3E}">
        <p14:creationId xmlns:p14="http://schemas.microsoft.com/office/powerpoint/2010/main" val="20143642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9F8DB-99C0-44B4-5504-FD99FB7AE3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D2B4F-448F-3FDA-4D59-AF9BC070BC75}"/>
              </a:ext>
            </a:extLst>
          </p:cNvPr>
          <p:cNvSpPr>
            <a:spLocks noGrp="1"/>
          </p:cNvSpPr>
          <p:nvPr>
            <p:ph type="ctrTitle"/>
          </p:nvPr>
        </p:nvSpPr>
        <p:spPr>
          <a:xfrm>
            <a:off x="1524000" y="216429"/>
            <a:ext cx="9144000" cy="668867"/>
          </a:xfrm>
        </p:spPr>
        <p:txBody>
          <a:bodyPr>
            <a:normAutofit/>
          </a:bodyPr>
          <a:lstStyle/>
          <a:p>
            <a:r>
              <a:rPr lang="en-US" sz="4000">
                <a:ea typeface="+mj-lt"/>
                <a:cs typeface="+mj-lt"/>
              </a:rPr>
              <a:t>Tool</a:t>
            </a:r>
            <a:endParaRPr lang="en-US"/>
          </a:p>
        </p:txBody>
      </p:sp>
      <p:sp>
        <p:nvSpPr>
          <p:cNvPr id="3" name="Subtitle 2">
            <a:extLst>
              <a:ext uri="{FF2B5EF4-FFF2-40B4-BE49-F238E27FC236}">
                <a16:creationId xmlns:a16="http://schemas.microsoft.com/office/drawing/2014/main" id="{9E95707F-54CB-D00D-917D-4BC100491E0E}"/>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C808BD39-460E-4EB4-DDD1-4BB6E753FD83}"/>
              </a:ext>
            </a:extLst>
          </p:cNvPr>
          <p:cNvSpPr txBox="1"/>
          <p:nvPr/>
        </p:nvSpPr>
        <p:spPr>
          <a:xfrm>
            <a:off x="726068" y="2055746"/>
            <a:ext cx="6163939" cy="286232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mn-lt"/>
                <a:cs typeface="+mn-lt"/>
              </a:rPr>
              <a:t>The setup() function loads</a:t>
            </a:r>
            <a:r>
              <a:rPr lang="en-US" dirty="0">
                <a:ea typeface="+mn-lt"/>
                <a:cs typeface="+mn-lt"/>
              </a:rPr>
              <a:t> the input file, parses its contents using the Parser, and converts the data into a </a:t>
            </a:r>
            <a:r>
              <a:rPr lang="en-US">
                <a:ea typeface="+mn-lt"/>
                <a:cs typeface="+mn-lt"/>
              </a:rPr>
              <a:t>graph structure through an adapter.</a:t>
            </a:r>
          </a:p>
          <a:p>
            <a:r>
              <a:rPr lang="en-US" dirty="0">
                <a:ea typeface="+mn-lt"/>
                <a:cs typeface="+mn-lt"/>
              </a:rPr>
              <a:t>The main processing step is performed by </a:t>
            </a:r>
            <a:r>
              <a:rPr lang="en-US" dirty="0" err="1">
                <a:ea typeface="+mn-lt"/>
                <a:cs typeface="+mn-lt"/>
              </a:rPr>
              <a:t>get_max_flow</a:t>
            </a:r>
            <a:r>
              <a:rPr lang="en-US" dirty="0">
                <a:ea typeface="+mn-lt"/>
                <a:cs typeface="+mn-lt"/>
              </a:rPr>
              <a:t>(), which applies the Edmonds-Karp algorithm to compute a maximum flow on the graph. This corresponds to finding an optimal assignment between reviewers and submissions. The resulting flow is then interpreted and stored as matching outputs for both submissions and reviewers.</a:t>
            </a:r>
            <a:endParaRPr lang="en-US"/>
          </a:p>
          <a:p>
            <a:endParaRPr lang="en-US" dirty="0"/>
          </a:p>
        </p:txBody>
      </p:sp>
      <p:pic>
        <p:nvPicPr>
          <p:cNvPr id="5" name="Picture 4" descr="A screen shot of a computer program&#10;&#10;AI-generated content may be incorrect.">
            <a:extLst>
              <a:ext uri="{FF2B5EF4-FFF2-40B4-BE49-F238E27FC236}">
                <a16:creationId xmlns:a16="http://schemas.microsoft.com/office/drawing/2014/main" id="{C907397F-BE70-8D54-6F9E-93DA3B67BC6F}"/>
              </a:ext>
            </a:extLst>
          </p:cNvPr>
          <p:cNvPicPr>
            <a:picLocks noChangeAspect="1"/>
          </p:cNvPicPr>
          <p:nvPr/>
        </p:nvPicPr>
        <p:blipFill>
          <a:blip r:embed="rId2"/>
          <a:stretch>
            <a:fillRect/>
          </a:stretch>
        </p:blipFill>
        <p:spPr>
          <a:xfrm>
            <a:off x="7918876" y="2054380"/>
            <a:ext cx="3305175" cy="1466850"/>
          </a:xfrm>
          <a:prstGeom prst="rect">
            <a:avLst/>
          </a:prstGeom>
        </p:spPr>
      </p:pic>
      <p:pic>
        <p:nvPicPr>
          <p:cNvPr id="6" name="Picture 5" descr="A screen shot of a computer program&#10;&#10;AI-generated content may be incorrect.">
            <a:extLst>
              <a:ext uri="{FF2B5EF4-FFF2-40B4-BE49-F238E27FC236}">
                <a16:creationId xmlns:a16="http://schemas.microsoft.com/office/drawing/2014/main" id="{5E235C50-1A77-7CD4-E1DF-6A12630F8015}"/>
              </a:ext>
            </a:extLst>
          </p:cNvPr>
          <p:cNvPicPr>
            <a:picLocks noChangeAspect="1"/>
          </p:cNvPicPr>
          <p:nvPr/>
        </p:nvPicPr>
        <p:blipFill>
          <a:blip r:embed="rId3"/>
          <a:stretch>
            <a:fillRect/>
          </a:stretch>
        </p:blipFill>
        <p:spPr>
          <a:xfrm>
            <a:off x="6879373" y="4691411"/>
            <a:ext cx="4343400" cy="1638300"/>
          </a:xfrm>
          <a:prstGeom prst="rect">
            <a:avLst/>
          </a:prstGeom>
        </p:spPr>
      </p:pic>
    </p:spTree>
    <p:extLst>
      <p:ext uri="{BB962C8B-B14F-4D97-AF65-F5344CB8AC3E}">
        <p14:creationId xmlns:p14="http://schemas.microsoft.com/office/powerpoint/2010/main" val="998389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8ACD8B-3FD3-6285-00F6-64C70CFEB2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FDD2BD-9F6D-CFF1-39E2-E34A9A558FBA}"/>
              </a:ext>
            </a:extLst>
          </p:cNvPr>
          <p:cNvSpPr>
            <a:spLocks noGrp="1"/>
          </p:cNvSpPr>
          <p:nvPr>
            <p:ph type="ctrTitle"/>
          </p:nvPr>
        </p:nvSpPr>
        <p:spPr>
          <a:xfrm>
            <a:off x="1524000" y="216429"/>
            <a:ext cx="9144000" cy="668867"/>
          </a:xfrm>
        </p:spPr>
        <p:txBody>
          <a:bodyPr>
            <a:normAutofit/>
          </a:bodyPr>
          <a:lstStyle/>
          <a:p>
            <a:r>
              <a:rPr lang="en-US" sz="4000">
                <a:ea typeface="+mj-lt"/>
                <a:cs typeface="+mj-lt"/>
              </a:rPr>
              <a:t>Tool</a:t>
            </a:r>
            <a:endParaRPr lang="en-US"/>
          </a:p>
        </p:txBody>
      </p:sp>
      <p:sp>
        <p:nvSpPr>
          <p:cNvPr id="3" name="Subtitle 2">
            <a:extLst>
              <a:ext uri="{FF2B5EF4-FFF2-40B4-BE49-F238E27FC236}">
                <a16:creationId xmlns:a16="http://schemas.microsoft.com/office/drawing/2014/main" id="{CD2246FA-A818-C9D3-813D-1103CA7A2C23}"/>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931AB3C5-2BA1-5870-A383-C725ABF49094}"/>
              </a:ext>
            </a:extLst>
          </p:cNvPr>
          <p:cNvSpPr txBox="1"/>
          <p:nvPr/>
        </p:nvSpPr>
        <p:spPr>
          <a:xfrm>
            <a:off x="726068" y="2055746"/>
            <a:ext cx="10735939" cy="34163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The </a:t>
            </a:r>
            <a:r>
              <a:rPr lang="en-US" dirty="0" err="1">
                <a:ea typeface="+mn-lt"/>
                <a:cs typeface="+mn-lt"/>
              </a:rPr>
              <a:t>risk_analysis</a:t>
            </a:r>
            <a:r>
              <a:rPr lang="en-US" dirty="0">
                <a:ea typeface="+mn-lt"/>
                <a:cs typeface="+mn-lt"/>
              </a:rPr>
              <a:t>() function identifies critical reviewers whose removal would compromise the assignment. It performs a breadth-first search on the residual graph to determine which vertices are not reachable and derives the set of critical reviewers from this structure. This is best described further, in the corresponding section. </a:t>
            </a:r>
            <a:endParaRPr lang="en-US" dirty="0"/>
          </a:p>
          <a:p>
            <a:r>
              <a:rPr lang="en-US" dirty="0">
                <a:ea typeface="+mn-lt"/>
                <a:cs typeface="+mn-lt"/>
              </a:rPr>
              <a:t>The </a:t>
            </a:r>
            <a:r>
              <a:rPr lang="en-US" dirty="0" err="1">
                <a:ea typeface="+mn-lt"/>
                <a:cs typeface="+mn-lt"/>
              </a:rPr>
              <a:t>get_missing_output</a:t>
            </a:r>
            <a:r>
              <a:rPr lang="en-US" dirty="0">
                <a:ea typeface="+mn-lt"/>
                <a:cs typeface="+mn-lt"/>
              </a:rPr>
              <a:t>() function identifies submissions that did not receive the required number of reviewers by inspecting edges whose flow does not meet their capacity. These are stored and sorted for reporting. </a:t>
            </a:r>
            <a:endParaRPr lang="en-US" dirty="0"/>
          </a:p>
          <a:p>
            <a:r>
              <a:rPr lang="en-US">
                <a:ea typeface="+mn-lt"/>
                <a:cs typeface="+mn-lt"/>
              </a:rPr>
              <a:t>The class supports printing results to the console or saving them to a file. Outputs include the </a:t>
            </a:r>
            <a:r>
              <a:rPr lang="en-US" dirty="0">
                <a:ea typeface="+mn-lt"/>
                <a:cs typeface="+mn-lt"/>
              </a:rPr>
              <a:t>assignment results, missing assignments, and risk analysis.</a:t>
            </a:r>
            <a:endParaRPr lang="en-US"/>
          </a:p>
          <a:p>
            <a:endParaRPr lang="en-US" dirty="0">
              <a:ea typeface="+mn-lt"/>
              <a:cs typeface="+mn-lt"/>
            </a:endParaRPr>
          </a:p>
          <a:p>
            <a:endParaRPr lang="en-US" dirty="0">
              <a:ea typeface="+mn-lt"/>
              <a:cs typeface="+mn-lt"/>
            </a:endParaRPr>
          </a:p>
          <a:p>
            <a:pPr algn="l"/>
            <a:endParaRPr lang="en-US" dirty="0"/>
          </a:p>
        </p:txBody>
      </p:sp>
    </p:spTree>
    <p:extLst>
      <p:ext uri="{BB962C8B-B14F-4D97-AF65-F5344CB8AC3E}">
        <p14:creationId xmlns:p14="http://schemas.microsoft.com/office/powerpoint/2010/main" val="8329980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A62C1-D2DE-1B47-E97D-3E393BADA6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F8A54E-EFD7-B8C4-B004-BB5EBF9CACFA}"/>
              </a:ext>
            </a:extLst>
          </p:cNvPr>
          <p:cNvSpPr>
            <a:spLocks noGrp="1"/>
          </p:cNvSpPr>
          <p:nvPr>
            <p:ph type="ctrTitle"/>
          </p:nvPr>
        </p:nvSpPr>
        <p:spPr>
          <a:xfrm>
            <a:off x="1524000" y="216429"/>
            <a:ext cx="9144000" cy="668867"/>
          </a:xfrm>
        </p:spPr>
        <p:txBody>
          <a:bodyPr>
            <a:normAutofit/>
          </a:bodyPr>
          <a:lstStyle/>
          <a:p>
            <a:r>
              <a:rPr lang="en-US" sz="4000">
                <a:ea typeface="+mj-lt"/>
                <a:cs typeface="+mj-lt"/>
              </a:rPr>
              <a:t>Tool</a:t>
            </a:r>
            <a:endParaRPr lang="en-US"/>
          </a:p>
        </p:txBody>
      </p:sp>
      <p:sp>
        <p:nvSpPr>
          <p:cNvPr id="3" name="Subtitle 2">
            <a:extLst>
              <a:ext uri="{FF2B5EF4-FFF2-40B4-BE49-F238E27FC236}">
                <a16:creationId xmlns:a16="http://schemas.microsoft.com/office/drawing/2014/main" id="{A8EB0EE6-4F5A-FC43-E09A-AE14D35B5867}"/>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What it  </a:t>
            </a:r>
            <a:r>
              <a:rPr lang="en-US" sz="3000" dirty="0"/>
              <a:t>is responsible for</a:t>
            </a:r>
          </a:p>
        </p:txBody>
      </p:sp>
      <p:sp>
        <p:nvSpPr>
          <p:cNvPr id="4" name="TextBox 3">
            <a:extLst>
              <a:ext uri="{FF2B5EF4-FFF2-40B4-BE49-F238E27FC236}">
                <a16:creationId xmlns:a16="http://schemas.microsoft.com/office/drawing/2014/main" id="{A58AEC44-08C8-A88D-120F-F189D3FC9ED6}"/>
              </a:ext>
            </a:extLst>
          </p:cNvPr>
          <p:cNvSpPr txBox="1"/>
          <p:nvPr/>
        </p:nvSpPr>
        <p:spPr>
          <a:xfrm>
            <a:off x="726068" y="2055746"/>
            <a:ext cx="10745231" cy="23083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a:ea typeface="+mn-lt"/>
                <a:cs typeface="+mn-lt"/>
              </a:rPr>
              <a:t>Integrating parsing, graph construction, and algorithm execution</a:t>
            </a:r>
          </a:p>
          <a:p>
            <a:pPr marL="285750" indent="-285750">
              <a:buFont typeface="Arial"/>
              <a:buChar char="•"/>
            </a:pPr>
            <a:r>
              <a:rPr lang="en-US">
                <a:ea typeface="+mn-lt"/>
                <a:cs typeface="+mn-lt"/>
              </a:rPr>
              <a:t>Computing assignments using maximum flow algorithm (Edmonds-Karp)</a:t>
            </a:r>
          </a:p>
          <a:p>
            <a:pPr marL="285750" indent="-285750">
              <a:buFont typeface="Arial"/>
              <a:buChar char="•"/>
            </a:pPr>
            <a:r>
              <a:rPr lang="en-US">
                <a:ea typeface="+mn-lt"/>
                <a:cs typeface="+mn-lt"/>
              </a:rPr>
              <a:t>Detecting incomplete assignments and reports missing allocations</a:t>
            </a:r>
          </a:p>
          <a:p>
            <a:pPr marL="285750" indent="-285750">
              <a:buFont typeface="Arial"/>
              <a:buChar char="•"/>
            </a:pPr>
            <a:r>
              <a:rPr lang="en-US" dirty="0" err="1">
                <a:ea typeface="+mn-lt"/>
                <a:cs typeface="+mn-lt"/>
              </a:rPr>
              <a:t>Perfoming</a:t>
            </a:r>
            <a:r>
              <a:rPr lang="en-US" dirty="0">
                <a:ea typeface="+mn-lt"/>
                <a:cs typeface="+mn-lt"/>
              </a:rPr>
              <a:t> a risk analysis for k=1</a:t>
            </a:r>
          </a:p>
          <a:p>
            <a:pPr marL="285750" indent="-285750">
              <a:buFont typeface="Arial"/>
              <a:buChar char="•"/>
            </a:pPr>
            <a:r>
              <a:rPr lang="en-US">
                <a:ea typeface="+mn-lt"/>
                <a:cs typeface="+mn-lt"/>
              </a:rPr>
              <a:t>Supporting console output and file-based result storage</a:t>
            </a:r>
          </a:p>
          <a:p>
            <a:endParaRPr lang="en-US" dirty="0"/>
          </a:p>
          <a:p>
            <a:pPr marL="285750" indent="-285750">
              <a:buFont typeface="Arial"/>
              <a:buChar char="•"/>
            </a:pPr>
            <a:endParaRPr lang="en-US" dirty="0"/>
          </a:p>
          <a:p>
            <a:pPr algn="l"/>
            <a:endParaRPr lang="en-US" dirty="0"/>
          </a:p>
        </p:txBody>
      </p:sp>
    </p:spTree>
    <p:extLst>
      <p:ext uri="{BB962C8B-B14F-4D97-AF65-F5344CB8AC3E}">
        <p14:creationId xmlns:p14="http://schemas.microsoft.com/office/powerpoint/2010/main" val="35166781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4A3BF-7BA2-5E46-FE05-148A4CD136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596034-B148-45F1-0E5B-A3A0090C1208}"/>
              </a:ext>
            </a:extLst>
          </p:cNvPr>
          <p:cNvSpPr>
            <a:spLocks noGrp="1"/>
          </p:cNvSpPr>
          <p:nvPr>
            <p:ph type="ctrTitle"/>
          </p:nvPr>
        </p:nvSpPr>
        <p:spPr>
          <a:xfrm>
            <a:off x="1524000" y="216429"/>
            <a:ext cx="9144000" cy="668867"/>
          </a:xfrm>
        </p:spPr>
        <p:txBody>
          <a:bodyPr>
            <a:normAutofit/>
          </a:bodyPr>
          <a:lstStyle/>
          <a:p>
            <a:r>
              <a:rPr lang="en-US" sz="4000">
                <a:ea typeface="+mj-lt"/>
                <a:cs typeface="+mj-lt"/>
              </a:rPr>
              <a:t>Risk analysis (k = 1)</a:t>
            </a:r>
            <a:endParaRPr lang="en-US"/>
          </a:p>
        </p:txBody>
      </p:sp>
      <p:sp>
        <p:nvSpPr>
          <p:cNvPr id="3" name="Subtitle 2">
            <a:extLst>
              <a:ext uri="{FF2B5EF4-FFF2-40B4-BE49-F238E27FC236}">
                <a16:creationId xmlns:a16="http://schemas.microsoft.com/office/drawing/2014/main" id="{B4A8DD15-0845-D8CD-4AB1-5399C44223ED}"/>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What it is</a:t>
            </a:r>
          </a:p>
        </p:txBody>
      </p:sp>
      <p:sp>
        <p:nvSpPr>
          <p:cNvPr id="4" name="TextBox 3">
            <a:extLst>
              <a:ext uri="{FF2B5EF4-FFF2-40B4-BE49-F238E27FC236}">
                <a16:creationId xmlns:a16="http://schemas.microsoft.com/office/drawing/2014/main" id="{D9FB1DBC-EB46-6CE6-3326-77D04263518A}"/>
              </a:ext>
            </a:extLst>
          </p:cNvPr>
          <p:cNvSpPr txBox="1"/>
          <p:nvPr/>
        </p:nvSpPr>
        <p:spPr>
          <a:xfrm>
            <a:off x="726068" y="2055746"/>
            <a:ext cx="10745231"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Risk analysis is the search for the set of reviewers in which are critical for the final result, i.e. if the reviewers in which if they fail to accomplish their work will result in one or more articles not having sufficient reviews. </a:t>
            </a:r>
          </a:p>
          <a:p>
            <a:r>
              <a:rPr lang="en-US">
                <a:ea typeface="+mn-lt"/>
                <a:cs typeface="+mn-lt"/>
              </a:rPr>
              <a:t>For k = 1, we need to find which reviewers alone could cause in failure.</a:t>
            </a:r>
          </a:p>
          <a:p>
            <a:endParaRPr lang="en-US" dirty="0">
              <a:ea typeface="+mn-lt"/>
              <a:cs typeface="+mn-lt"/>
            </a:endParaRPr>
          </a:p>
          <a:p>
            <a:pPr algn="l"/>
            <a:endParaRPr lang="en-US" dirty="0"/>
          </a:p>
        </p:txBody>
      </p:sp>
    </p:spTree>
    <p:extLst>
      <p:ext uri="{BB962C8B-B14F-4D97-AF65-F5344CB8AC3E}">
        <p14:creationId xmlns:p14="http://schemas.microsoft.com/office/powerpoint/2010/main" val="10926059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B3755-474B-94A7-8EC5-977741492C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3878A0-858E-2B07-35A4-187A7E18BBE7}"/>
              </a:ext>
            </a:extLst>
          </p:cNvPr>
          <p:cNvSpPr>
            <a:spLocks noGrp="1"/>
          </p:cNvSpPr>
          <p:nvPr>
            <p:ph type="ctrTitle"/>
          </p:nvPr>
        </p:nvSpPr>
        <p:spPr>
          <a:xfrm>
            <a:off x="1524000" y="216429"/>
            <a:ext cx="9144000" cy="668867"/>
          </a:xfrm>
        </p:spPr>
        <p:txBody>
          <a:bodyPr>
            <a:normAutofit/>
          </a:bodyPr>
          <a:lstStyle/>
          <a:p>
            <a:r>
              <a:rPr lang="en-US" sz="4000">
                <a:ea typeface="+mj-lt"/>
                <a:cs typeface="+mj-lt"/>
              </a:rPr>
              <a:t>Risk analysis (k = 1)</a:t>
            </a:r>
          </a:p>
        </p:txBody>
      </p:sp>
      <p:sp>
        <p:nvSpPr>
          <p:cNvPr id="3" name="Subtitle 2">
            <a:extLst>
              <a:ext uri="{FF2B5EF4-FFF2-40B4-BE49-F238E27FC236}">
                <a16:creationId xmlns:a16="http://schemas.microsoft.com/office/drawing/2014/main" id="{DAED4305-88EB-0BEC-27AA-E5545AF4B4A0}"/>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40826C96-5F2D-2154-703B-6A4FB8698BB6}"/>
              </a:ext>
            </a:extLst>
          </p:cNvPr>
          <p:cNvSpPr txBox="1"/>
          <p:nvPr/>
        </p:nvSpPr>
        <p:spPr>
          <a:xfrm>
            <a:off x="726068" y="2613307"/>
            <a:ext cx="5374059" cy="36933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a:t>visited</a:t>
            </a:r>
            <a:endParaRPr lang="en-US" dirty="0"/>
          </a:p>
          <a:p>
            <a:pPr marL="285750" indent="-285750">
              <a:buFont typeface="Arial"/>
              <a:buChar char="•"/>
            </a:pPr>
            <a:r>
              <a:rPr lang="en-US"/>
              <a:t>unvisited</a:t>
            </a:r>
            <a:endParaRPr lang="en-US" dirty="0"/>
          </a:p>
          <a:p>
            <a:r>
              <a:rPr lang="en-US" dirty="0">
                <a:ea typeface="+mn-lt"/>
                <a:cs typeface="+mn-lt"/>
              </a:rPr>
              <a:t>And the key for the success is in the unvisited ones that tells us that all paths which are able to reach that node are saturated and there is no other path to reach it that starts from the starting node. That means if we remove one incoming edge from the node, the maximum flow would decrease. </a:t>
            </a:r>
            <a:br>
              <a:rPr lang="en-US" dirty="0">
                <a:ea typeface="+mn-lt"/>
                <a:cs typeface="+mn-lt"/>
              </a:rPr>
            </a:br>
            <a:r>
              <a:rPr lang="en-US" dirty="0">
                <a:ea typeface="+mn-lt"/>
                <a:cs typeface="+mn-lt"/>
              </a:rPr>
              <a:t>With that idea in thought, we just need to traverse the graph from source through the residual graph, then we filter from all unvisited nodes the articles and we know that all reviewers who are reviewing the article are critical.</a:t>
            </a:r>
          </a:p>
        </p:txBody>
      </p:sp>
      <p:pic>
        <p:nvPicPr>
          <p:cNvPr id="6" name="Picture 5" descr="A screen shot of a computer code&#10;&#10;AI-generated content may be incorrect.">
            <a:extLst>
              <a:ext uri="{FF2B5EF4-FFF2-40B4-BE49-F238E27FC236}">
                <a16:creationId xmlns:a16="http://schemas.microsoft.com/office/drawing/2014/main" id="{071D80C9-CBFB-AF62-5F55-B219E1ABF24C}"/>
              </a:ext>
            </a:extLst>
          </p:cNvPr>
          <p:cNvPicPr>
            <a:picLocks noChangeAspect="1"/>
          </p:cNvPicPr>
          <p:nvPr/>
        </p:nvPicPr>
        <p:blipFill>
          <a:blip r:embed="rId2"/>
          <a:stretch>
            <a:fillRect/>
          </a:stretch>
        </p:blipFill>
        <p:spPr>
          <a:xfrm>
            <a:off x="6329362" y="3328757"/>
            <a:ext cx="5629275" cy="2505075"/>
          </a:xfrm>
          <a:prstGeom prst="rect">
            <a:avLst/>
          </a:prstGeom>
        </p:spPr>
      </p:pic>
      <p:sp>
        <p:nvSpPr>
          <p:cNvPr id="7" name="TextBox 6">
            <a:extLst>
              <a:ext uri="{FF2B5EF4-FFF2-40B4-BE49-F238E27FC236}">
                <a16:creationId xmlns:a16="http://schemas.microsoft.com/office/drawing/2014/main" id="{52412FBA-DB2A-07A7-448D-4B78AE414C1E}"/>
              </a:ext>
            </a:extLst>
          </p:cNvPr>
          <p:cNvSpPr txBox="1"/>
          <p:nvPr/>
        </p:nvSpPr>
        <p:spPr>
          <a:xfrm>
            <a:off x="726067" y="2055745"/>
            <a:ext cx="10745229"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mn-lt"/>
                <a:cs typeface="+mn-lt"/>
              </a:rPr>
              <a:t>The key to find the critical reviewers is to analyse the residual graph. If we traverse the residual graph (using the augmented paths) from a node, we will have two types of nodes:</a:t>
            </a:r>
            <a:endParaRPr lang="en-US"/>
          </a:p>
        </p:txBody>
      </p:sp>
    </p:spTree>
    <p:extLst>
      <p:ext uri="{BB962C8B-B14F-4D97-AF65-F5344CB8AC3E}">
        <p14:creationId xmlns:p14="http://schemas.microsoft.com/office/powerpoint/2010/main" val="19931470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89964-60D8-FBCB-65FB-8CC01961B0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2510A6-3E84-4E0E-CEDC-6599CA17A83C}"/>
              </a:ext>
            </a:extLst>
          </p:cNvPr>
          <p:cNvSpPr>
            <a:spLocks noGrp="1"/>
          </p:cNvSpPr>
          <p:nvPr>
            <p:ph type="ctrTitle"/>
          </p:nvPr>
        </p:nvSpPr>
        <p:spPr>
          <a:xfrm>
            <a:off x="1524000" y="216429"/>
            <a:ext cx="9144000" cy="668867"/>
          </a:xfrm>
        </p:spPr>
        <p:txBody>
          <a:bodyPr>
            <a:normAutofit/>
          </a:bodyPr>
          <a:lstStyle/>
          <a:p>
            <a:r>
              <a:rPr lang="en-US" sz="4000">
                <a:ea typeface="+mj-lt"/>
                <a:cs typeface="+mj-lt"/>
              </a:rPr>
              <a:t>Risk analysis (k = 1)</a:t>
            </a:r>
          </a:p>
        </p:txBody>
      </p:sp>
      <p:sp>
        <p:nvSpPr>
          <p:cNvPr id="3" name="Subtitle 2">
            <a:extLst>
              <a:ext uri="{FF2B5EF4-FFF2-40B4-BE49-F238E27FC236}">
                <a16:creationId xmlns:a16="http://schemas.microsoft.com/office/drawing/2014/main" id="{1A7CB92A-302C-1090-6B23-62FCAC2B9176}"/>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dirty="0"/>
              <a:t>Time </a:t>
            </a:r>
            <a:r>
              <a:rPr lang="en-US" sz="3000"/>
              <a:t>complexity</a:t>
            </a:r>
            <a:endParaRPr lang="en-US" sz="3000" dirty="0"/>
          </a:p>
        </p:txBody>
      </p:sp>
      <p:sp>
        <p:nvSpPr>
          <p:cNvPr id="4" name="TextBox 3">
            <a:extLst>
              <a:ext uri="{FF2B5EF4-FFF2-40B4-BE49-F238E27FC236}">
                <a16:creationId xmlns:a16="http://schemas.microsoft.com/office/drawing/2014/main" id="{0D624448-CF09-D4C1-24B4-48D71118F53F}"/>
              </a:ext>
            </a:extLst>
          </p:cNvPr>
          <p:cNvSpPr txBox="1"/>
          <p:nvPr/>
        </p:nvSpPr>
        <p:spPr>
          <a:xfrm>
            <a:off x="726068" y="2055746"/>
            <a:ext cx="10745231"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mn-lt"/>
                <a:cs typeface="+mn-lt"/>
              </a:rPr>
              <a:t>The BFS takes O(V + E) and then we search for unvisited submissions and for their edges (O(V * E)). We can define our algorithm as O(V * E). </a:t>
            </a:r>
          </a:p>
          <a:p>
            <a:r>
              <a:rPr lang="en-US" dirty="0">
                <a:ea typeface="+mn-lt"/>
                <a:cs typeface="+mn-lt"/>
              </a:rPr>
              <a:t>But because the number of edges in this project is smaller or equal to 2, i.e. it is constant, the BFS is the part which takes more time. </a:t>
            </a:r>
          </a:p>
          <a:p>
            <a:r>
              <a:rPr lang="en-US">
                <a:ea typeface="+mn-lt"/>
                <a:cs typeface="+mn-lt"/>
              </a:rPr>
              <a:t>Overall: O(V + E)</a:t>
            </a:r>
          </a:p>
        </p:txBody>
      </p:sp>
    </p:spTree>
    <p:extLst>
      <p:ext uri="{BB962C8B-B14F-4D97-AF65-F5344CB8AC3E}">
        <p14:creationId xmlns:p14="http://schemas.microsoft.com/office/powerpoint/2010/main" val="32091916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539F9-ABEA-D656-E180-36BE22DBDB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FA9CB8-A775-E126-4DB1-581CBEFB7E64}"/>
              </a:ext>
            </a:extLst>
          </p:cNvPr>
          <p:cNvSpPr>
            <a:spLocks noGrp="1"/>
          </p:cNvSpPr>
          <p:nvPr>
            <p:ph type="ctrTitle"/>
          </p:nvPr>
        </p:nvSpPr>
        <p:spPr>
          <a:xfrm>
            <a:off x="1524000" y="216429"/>
            <a:ext cx="9144000" cy="668867"/>
          </a:xfrm>
        </p:spPr>
        <p:txBody>
          <a:bodyPr>
            <a:normAutofit/>
          </a:bodyPr>
          <a:lstStyle/>
          <a:p>
            <a:r>
              <a:rPr lang="en-US" sz="4000">
                <a:ea typeface="+mj-lt"/>
                <a:cs typeface="+mj-lt"/>
              </a:rPr>
              <a:t>Risk analysis (k &gt; 1)</a:t>
            </a:r>
            <a:endParaRPr lang="en-US"/>
          </a:p>
        </p:txBody>
      </p:sp>
      <p:sp>
        <p:nvSpPr>
          <p:cNvPr id="3" name="Subtitle 2">
            <a:extLst>
              <a:ext uri="{FF2B5EF4-FFF2-40B4-BE49-F238E27FC236}">
                <a16:creationId xmlns:a16="http://schemas.microsoft.com/office/drawing/2014/main" id="{465F4654-32C3-3067-F0B0-9849AD2A98A0}"/>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Pseudo-code</a:t>
            </a:r>
          </a:p>
        </p:txBody>
      </p:sp>
      <p:pic>
        <p:nvPicPr>
          <p:cNvPr id="7" name="Picture 6" descr="A computer code on a black background&#10;&#10;AI-generated content may be incorrect.">
            <a:extLst>
              <a:ext uri="{FF2B5EF4-FFF2-40B4-BE49-F238E27FC236}">
                <a16:creationId xmlns:a16="http://schemas.microsoft.com/office/drawing/2014/main" id="{4005AD95-4004-6A5B-39D9-54191612C1EC}"/>
              </a:ext>
            </a:extLst>
          </p:cNvPr>
          <p:cNvPicPr>
            <a:picLocks noChangeAspect="1"/>
          </p:cNvPicPr>
          <p:nvPr/>
        </p:nvPicPr>
        <p:blipFill>
          <a:blip r:embed="rId2"/>
          <a:stretch>
            <a:fillRect/>
          </a:stretch>
        </p:blipFill>
        <p:spPr>
          <a:xfrm>
            <a:off x="1523604" y="2468095"/>
            <a:ext cx="9141051" cy="1917710"/>
          </a:xfrm>
          <a:prstGeom prst="rect">
            <a:avLst/>
          </a:prstGeom>
        </p:spPr>
      </p:pic>
    </p:spTree>
    <p:extLst>
      <p:ext uri="{BB962C8B-B14F-4D97-AF65-F5344CB8AC3E}">
        <p14:creationId xmlns:p14="http://schemas.microsoft.com/office/powerpoint/2010/main" val="33088056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EA233-F774-269E-C739-5C6E5160FD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6EFB3C-AA8E-4283-84C7-0A190B521394}"/>
              </a:ext>
            </a:extLst>
          </p:cNvPr>
          <p:cNvSpPr>
            <a:spLocks noGrp="1"/>
          </p:cNvSpPr>
          <p:nvPr>
            <p:ph type="ctrTitle"/>
          </p:nvPr>
        </p:nvSpPr>
        <p:spPr>
          <a:xfrm>
            <a:off x="1524000" y="216429"/>
            <a:ext cx="9144000" cy="668867"/>
          </a:xfrm>
        </p:spPr>
        <p:txBody>
          <a:bodyPr>
            <a:normAutofit/>
          </a:bodyPr>
          <a:lstStyle/>
          <a:p>
            <a:r>
              <a:rPr lang="en-US" sz="4000">
                <a:ea typeface="+mj-lt"/>
                <a:cs typeface="+mj-lt"/>
              </a:rPr>
              <a:t>Risk analysis (k &gt; 1)</a:t>
            </a:r>
          </a:p>
        </p:txBody>
      </p:sp>
      <p:sp>
        <p:nvSpPr>
          <p:cNvPr id="3" name="Subtitle 2">
            <a:extLst>
              <a:ext uri="{FF2B5EF4-FFF2-40B4-BE49-F238E27FC236}">
                <a16:creationId xmlns:a16="http://schemas.microsoft.com/office/drawing/2014/main" id="{92AFAAEC-DBC4-0917-F8D8-8BA06ED6DFFE}"/>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dirty="0"/>
              <a:t>Time </a:t>
            </a:r>
            <a:r>
              <a:rPr lang="en-US" sz="3000"/>
              <a:t>complexity</a:t>
            </a:r>
            <a:endParaRPr lang="en-US" sz="3000" dirty="0"/>
          </a:p>
        </p:txBody>
      </p:sp>
      <p:sp>
        <p:nvSpPr>
          <p:cNvPr id="4" name="TextBox 3">
            <a:extLst>
              <a:ext uri="{FF2B5EF4-FFF2-40B4-BE49-F238E27FC236}">
                <a16:creationId xmlns:a16="http://schemas.microsoft.com/office/drawing/2014/main" id="{8E97AF7E-906D-5EFC-3582-13F291681256}"/>
              </a:ext>
            </a:extLst>
          </p:cNvPr>
          <p:cNvSpPr txBox="1"/>
          <p:nvPr/>
        </p:nvSpPr>
        <p:spPr>
          <a:xfrm>
            <a:off x="726068" y="2055746"/>
            <a:ext cx="10745231"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We would need to generate all combinations with k nodes, so we would need O(combinations of r choose k), let r be the number of reviewers. And for each combination, we would need to recalculate the maximum flow thus taking in the end O(</a:t>
            </a:r>
            <a:r>
              <a:rPr lang="en-US" dirty="0" err="1">
                <a:ea typeface="+mn-lt"/>
                <a:cs typeface="+mn-lt"/>
              </a:rPr>
              <a:t>combiations</a:t>
            </a:r>
            <a:r>
              <a:rPr lang="en-US" dirty="0">
                <a:ea typeface="+mn-lt"/>
                <a:cs typeface="+mn-lt"/>
              </a:rPr>
              <a:t> of r choose k * V * E²)</a:t>
            </a:r>
          </a:p>
        </p:txBody>
      </p:sp>
    </p:spTree>
    <p:extLst>
      <p:ext uri="{BB962C8B-B14F-4D97-AF65-F5344CB8AC3E}">
        <p14:creationId xmlns:p14="http://schemas.microsoft.com/office/powerpoint/2010/main" val="28682395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B94FA-B97F-A55A-9813-9CA5C55DFE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83BB3A-6FE9-488A-603B-EF260D5B76D5}"/>
              </a:ext>
            </a:extLst>
          </p:cNvPr>
          <p:cNvSpPr>
            <a:spLocks noGrp="1"/>
          </p:cNvSpPr>
          <p:nvPr>
            <p:ph type="ctrTitle"/>
          </p:nvPr>
        </p:nvSpPr>
        <p:spPr>
          <a:xfrm>
            <a:off x="1524000" y="216429"/>
            <a:ext cx="9144000" cy="668867"/>
          </a:xfrm>
        </p:spPr>
        <p:txBody>
          <a:bodyPr>
            <a:normAutofit/>
          </a:bodyPr>
          <a:lstStyle/>
          <a:p>
            <a:r>
              <a:rPr lang="en-US" sz="4000">
                <a:ea typeface="+mj-lt"/>
                <a:cs typeface="+mj-lt"/>
              </a:rPr>
              <a:t>Credits</a:t>
            </a:r>
            <a:endParaRPr lang="en-US"/>
          </a:p>
        </p:txBody>
      </p:sp>
      <p:sp>
        <p:nvSpPr>
          <p:cNvPr id="3" name="Subtitle 2">
            <a:extLst>
              <a:ext uri="{FF2B5EF4-FFF2-40B4-BE49-F238E27FC236}">
                <a16:creationId xmlns:a16="http://schemas.microsoft.com/office/drawing/2014/main" id="{3415F3E6-A59D-E9D5-71AD-FA4C9E6145CD}"/>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ea typeface="+mn-lt"/>
                <a:cs typeface="+mn-lt"/>
              </a:rPr>
              <a:t>This program was made by</a:t>
            </a:r>
            <a:endParaRPr lang="en-US">
              <a:ea typeface="+mn-lt"/>
              <a:cs typeface="+mn-lt"/>
            </a:endParaRPr>
          </a:p>
        </p:txBody>
      </p:sp>
      <p:sp>
        <p:nvSpPr>
          <p:cNvPr id="4" name="TextBox 3">
            <a:extLst>
              <a:ext uri="{FF2B5EF4-FFF2-40B4-BE49-F238E27FC236}">
                <a16:creationId xmlns:a16="http://schemas.microsoft.com/office/drawing/2014/main" id="{607E094D-78ED-35EF-02B5-16A00AAF5939}"/>
              </a:ext>
            </a:extLst>
          </p:cNvPr>
          <p:cNvSpPr txBox="1"/>
          <p:nvPr/>
        </p:nvSpPr>
        <p:spPr>
          <a:xfrm>
            <a:off x="726068" y="2055746"/>
            <a:ext cx="1074523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a:ea typeface="+mn-lt"/>
                <a:cs typeface="+mn-lt"/>
              </a:rPr>
              <a:t>Francisca Baldaia da Silveira</a:t>
            </a:r>
            <a:endParaRPr lang="en-US"/>
          </a:p>
          <a:p>
            <a:pPr marL="285750" indent="-285750">
              <a:buFont typeface="Arial"/>
              <a:buChar char="•"/>
            </a:pPr>
            <a:r>
              <a:rPr lang="en-US">
                <a:ea typeface="+mn-lt"/>
                <a:cs typeface="+mn-lt"/>
              </a:rPr>
              <a:t>Tiago Alexandre Rodrigues Botelho</a:t>
            </a:r>
            <a:endParaRPr lang="en-US"/>
          </a:p>
          <a:p>
            <a:pPr marL="285750" indent="-285750">
              <a:buFont typeface="Arial"/>
              <a:buChar char="•"/>
            </a:pPr>
            <a:r>
              <a:rPr lang="en-US">
                <a:ea typeface="+mn-lt"/>
                <a:cs typeface="+mn-lt"/>
              </a:rPr>
              <a:t>Tiago Su</a:t>
            </a:r>
            <a:endParaRPr lang="en-US"/>
          </a:p>
          <a:p>
            <a:endParaRPr lang="en-US" dirty="0">
              <a:ea typeface="+mn-lt"/>
              <a:cs typeface="+mn-lt"/>
            </a:endParaRPr>
          </a:p>
        </p:txBody>
      </p:sp>
    </p:spTree>
    <p:extLst>
      <p:ext uri="{BB962C8B-B14F-4D97-AF65-F5344CB8AC3E}">
        <p14:creationId xmlns:p14="http://schemas.microsoft.com/office/powerpoint/2010/main" val="27739582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26</Slides>
  <Notes>0</Notes>
  <HiddenSlides>0</HiddenSlides>
  <MMClips>0</MMClips>
  <ScaleCrop>false</ScaleCrop>
  <HeadingPairs>
    <vt:vector size="4" baseType="variant">
      <vt:variant>
        <vt:lpstr>Theme</vt:lpstr>
      </vt:variant>
      <vt:variant>
        <vt:i4>1</vt:i4>
      </vt:variant>
      <vt:variant>
        <vt:lpstr>Slide Titles</vt:lpstr>
      </vt:variant>
      <vt:variant>
        <vt:i4>26</vt:i4>
      </vt:variant>
    </vt:vector>
  </HeadingPairs>
  <TitlesOfParts>
    <vt:vector size="27" baseType="lpstr">
      <vt:lpstr>office theme</vt:lpstr>
      <vt:lpstr>Scientific Conference Organization Tool</vt:lpstr>
      <vt:lpstr>Scientific Conference Organization Tool</vt:lpstr>
      <vt:lpstr>Scientific Conference Organization Tool</vt:lpstr>
      <vt:lpstr>Parser</vt:lpstr>
      <vt:lpstr>Parser</vt:lpstr>
      <vt:lpstr>Parser</vt:lpstr>
      <vt:lpstr>Parser</vt:lpstr>
      <vt:lpstr>Parser</vt:lpstr>
      <vt:lpstr>Parser</vt:lpstr>
      <vt:lpstr>Adapter</vt:lpstr>
      <vt:lpstr>Adapter</vt:lpstr>
      <vt:lpstr>Adapter</vt:lpstr>
      <vt:lpstr>Adapter</vt:lpstr>
      <vt:lpstr>Adapter</vt:lpstr>
      <vt:lpstr>MaxFlow</vt:lpstr>
      <vt:lpstr>MaxFlow</vt:lpstr>
      <vt:lpstr>Tool</vt:lpstr>
      <vt:lpstr>Tool</vt:lpstr>
      <vt:lpstr>Tool</vt:lpstr>
      <vt:lpstr>Tool</vt:lpstr>
      <vt:lpstr>Risk analysis (k = 1)</vt:lpstr>
      <vt:lpstr>Risk analysis (k = 1)</vt:lpstr>
      <vt:lpstr>Risk analysis (k = 1)</vt:lpstr>
      <vt:lpstr>Risk analysis (k &gt; 1)</vt:lpstr>
      <vt:lpstr>Risk analysis (k &gt; 1)</vt:lpstr>
      <vt:lpstr>Credits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362</cp:revision>
  <dcterms:created xsi:type="dcterms:W3CDTF">2026-03-29T11:48:47Z</dcterms:created>
  <dcterms:modified xsi:type="dcterms:W3CDTF">2026-03-29T17:57:23Z</dcterms:modified>
</cp:coreProperties>
</file>